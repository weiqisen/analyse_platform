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96" r:id="rId3"/>
    <p:sldId id="257" r:id="rId4"/>
    <p:sldId id="291" r:id="rId5"/>
    <p:sldId id="292" r:id="rId6"/>
    <p:sldId id="303" r:id="rId7"/>
    <p:sldId id="272" r:id="rId8"/>
    <p:sldId id="295" r:id="rId10"/>
    <p:sldId id="285" r:id="rId11"/>
    <p:sldId id="286" r:id="rId12"/>
    <p:sldId id="288" r:id="rId13"/>
    <p:sldId id="289" r:id="rId14"/>
    <p:sldId id="299" r:id="rId15"/>
    <p:sldId id="266" r:id="rId16"/>
    <p:sldId id="304" r:id="rId17"/>
    <p:sldId id="300" r:id="rId18"/>
    <p:sldId id="290" r:id="rId19"/>
    <p:sldId id="301" r:id="rId20"/>
    <p:sldId id="280" r:id="rId21"/>
    <p:sldId id="282" r:id="rId22"/>
    <p:sldId id="270" r:id="rId23"/>
    <p:sldId id="283" r:id="rId24"/>
    <p:sldId id="302" r:id="rId25"/>
    <p:sldId id="294" r:id="rId26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4" userDrawn="1">
          <p15:clr>
            <a:srgbClr val="A4A3A4"/>
          </p15:clr>
        </p15:guide>
        <p15:guide id="2" pos="3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3B79"/>
    <a:srgbClr val="7FBDE2"/>
    <a:srgbClr val="72C23B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74"/>
        <p:guide pos="385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204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4" Type="http://schemas.microsoft.com/office/2011/relationships/chartColorStyle" Target="colors1.xml"/><Relationship Id="rId3" Type="http://schemas.microsoft.com/office/2011/relationships/chartStyle" Target="style1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4" Type="http://schemas.microsoft.com/office/2011/relationships/chartColorStyle" Target="colors2.xml"/><Relationship Id="rId3" Type="http://schemas.microsoft.com/office/2011/relationships/chartStyle" Target="style2.xml"/><Relationship Id="rId2" Type="http://schemas.openxmlformats.org/officeDocument/2006/relationships/themeOverride" Target="../theme/themeOverrid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4" Type="http://schemas.microsoft.com/office/2011/relationships/chartColorStyle" Target="colors3.xml"/><Relationship Id="rId3" Type="http://schemas.microsoft.com/office/2011/relationships/chartStyle" Target="style3.xml"/><Relationship Id="rId2" Type="http://schemas.openxmlformats.org/officeDocument/2006/relationships/themeOverride" Target="../theme/themeOverride3.xml"/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45391010078717"/>
          <c:y val="0.0364664586583463"/>
          <c:w val="0.944088869270948"/>
          <c:h val="0.8803432137285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>
                <a:hueOff val="0"/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000" b="1" i="0" u="none" strike="noStrike" kern="1200" baseline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  <c:pt idx="4">
                  <c:v>类别 5</c:v>
                </c:pt>
                <c:pt idx="5">
                  <c:v>类别 6</c:v>
                </c:pt>
                <c:pt idx="6">
                  <c:v>类别 7</c:v>
                </c:pt>
                <c:pt idx="7">
                  <c:v>类别 8</c:v>
                </c:pt>
                <c:pt idx="8">
                  <c:v>类别 9</c:v>
                </c:pt>
                <c:pt idx="9">
                  <c:v>类别 10</c:v>
                </c:pt>
                <c:pt idx="10">
                  <c:v>类别 11</c:v>
                </c:pt>
                <c:pt idx="11">
                  <c:v>类别 12</c:v>
                </c:pt>
                <c:pt idx="12">
                  <c:v>类别 13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4.3</c:v>
                </c:pt>
                <c:pt idx="1">
                  <c:v>3</c:v>
                </c:pt>
                <c:pt idx="2">
                  <c:v>2.5</c:v>
                </c:pt>
                <c:pt idx="3">
                  <c:v>2</c:v>
                </c:pt>
                <c:pt idx="4">
                  <c:v>1.8</c:v>
                </c:pt>
                <c:pt idx="5">
                  <c:v>1.5</c:v>
                </c:pt>
                <c:pt idx="6">
                  <c:v>1</c:v>
                </c:pt>
                <c:pt idx="7">
                  <c:v>0.5</c:v>
                </c:pt>
                <c:pt idx="8">
                  <c:v>0.5</c:v>
                </c:pt>
                <c:pt idx="9">
                  <c:v>0.4</c:v>
                </c:pt>
                <c:pt idx="10">
                  <c:v>0.3</c:v>
                </c:pt>
                <c:pt idx="11">
                  <c:v>0.2</c:v>
                </c:pt>
                <c:pt idx="12">
                  <c:v>0.1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30"/>
        <c:overlap val="30"/>
        <c:axId val="839321746"/>
        <c:axId val="403408472"/>
      </c:barChart>
      <c:catAx>
        <c:axId val="839321746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403408472"/>
        <c:crosses val="autoZero"/>
        <c:auto val="1"/>
        <c:lblAlgn val="ctr"/>
        <c:lblOffset val="100"/>
        <c:noMultiLvlLbl val="0"/>
      </c:catAx>
      <c:valAx>
        <c:axId val="403408472"/>
        <c:scaling>
          <c:orientation val="minMax"/>
        </c:scaling>
        <c:delete val="1"/>
        <c:axPos val="l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 forceAA="0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83932174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51dc79b-5a02-44ce-a478-b5d25ce41a27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round/>
    </a:ln>
    <a:effectLst/>
  </c:spPr>
  <c:txPr>
    <a:bodyPr/>
    <a:lstStyle/>
    <a:p>
      <a:pPr>
        <a:defRPr lang="zh-CN" b="1"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45391010078717"/>
          <c:y val="0.0364664586583463"/>
          <c:w val="0.944088869270948"/>
          <c:h val="0.8803432137285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>
                <a:hueOff val="0"/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000" b="1" i="0" u="none" strike="noStrike" kern="1200" baseline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  <c:pt idx="4">
                  <c:v>类别 5</c:v>
                </c:pt>
                <c:pt idx="5">
                  <c:v>类别 6</c:v>
                </c:pt>
                <c:pt idx="6">
                  <c:v>类别 7</c:v>
                </c:pt>
                <c:pt idx="7">
                  <c:v>类别 8</c:v>
                </c:pt>
                <c:pt idx="8">
                  <c:v>类别 9</c:v>
                </c:pt>
                <c:pt idx="9">
                  <c:v>类别 10</c:v>
                </c:pt>
                <c:pt idx="10">
                  <c:v>类别 11</c:v>
                </c:pt>
                <c:pt idx="11">
                  <c:v>类别 12</c:v>
                </c:pt>
                <c:pt idx="12">
                  <c:v>类别 13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4.3</c:v>
                </c:pt>
                <c:pt idx="1">
                  <c:v>3</c:v>
                </c:pt>
                <c:pt idx="2">
                  <c:v>2.5</c:v>
                </c:pt>
                <c:pt idx="3">
                  <c:v>2</c:v>
                </c:pt>
                <c:pt idx="4">
                  <c:v>1.8</c:v>
                </c:pt>
                <c:pt idx="5">
                  <c:v>1.5</c:v>
                </c:pt>
                <c:pt idx="6">
                  <c:v>1</c:v>
                </c:pt>
                <c:pt idx="7">
                  <c:v>0.5</c:v>
                </c:pt>
                <c:pt idx="8">
                  <c:v>0.5</c:v>
                </c:pt>
                <c:pt idx="9">
                  <c:v>0.4</c:v>
                </c:pt>
                <c:pt idx="10">
                  <c:v>0.3</c:v>
                </c:pt>
                <c:pt idx="11">
                  <c:v>0.2</c:v>
                </c:pt>
                <c:pt idx="12">
                  <c:v>0.1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30"/>
        <c:overlap val="30"/>
        <c:axId val="839321746"/>
        <c:axId val="403408472"/>
      </c:barChart>
      <c:catAx>
        <c:axId val="839321746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403408472"/>
        <c:crosses val="autoZero"/>
        <c:auto val="1"/>
        <c:lblAlgn val="ctr"/>
        <c:lblOffset val="100"/>
        <c:noMultiLvlLbl val="0"/>
      </c:catAx>
      <c:valAx>
        <c:axId val="403408472"/>
        <c:scaling>
          <c:orientation val="minMax"/>
        </c:scaling>
        <c:delete val="1"/>
        <c:axPos val="l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 forceAA="0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83932174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51dc79b-5a02-44ce-a478-b5d25ce41a27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round/>
    </a:ln>
    <a:effectLst/>
  </c:spPr>
  <c:txPr>
    <a:bodyPr/>
    <a:lstStyle/>
    <a:p>
      <a:pPr>
        <a:defRPr lang="zh-CN" b="1"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0" i="0" u="none" strike="noStrike" kern="120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图表标题</a:t>
            </a:r>
            <a:endParaRPr>
              <a:solidFill>
                <a:schemeClr val="bg1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分类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m"月"d"日"</c:formatCode>
                <c:ptCount val="6"/>
                <c:pt idx="0" c:formatCode="m&quot;月&quot;d&quot;日&quot;">
                  <c:v>46357</c:v>
                </c:pt>
                <c:pt idx="1" c:formatCode="m&quot;月&quot;d&quot;日&quot;">
                  <c:v>46358</c:v>
                </c:pt>
                <c:pt idx="2" c:formatCode="m&quot;月&quot;d&quot;日&quot;">
                  <c:v>46359</c:v>
                </c:pt>
                <c:pt idx="3" c:formatCode="m&quot;月&quot;d&quot;日&quot;">
                  <c:v>46360</c:v>
                </c:pt>
                <c:pt idx="4" c:formatCode="m&quot;月&quot;d&quot;日&quot;">
                  <c:v>46361</c:v>
                </c:pt>
                <c:pt idx="5" c:formatCode="m&quot;月&quot;d&quot;日&quot;">
                  <c:v>46362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2.5</c:v>
                </c:pt>
                <c:pt idx="5">
                  <c:v>3.5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分类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m"月"d"日"</c:formatCode>
                <c:ptCount val="6"/>
                <c:pt idx="0" c:formatCode="m&quot;月&quot;d&quot;日&quot;">
                  <c:v>46357</c:v>
                </c:pt>
                <c:pt idx="1" c:formatCode="m&quot;月&quot;d&quot;日&quot;">
                  <c:v>46358</c:v>
                </c:pt>
                <c:pt idx="2" c:formatCode="m&quot;月&quot;d&quot;日&quot;">
                  <c:v>46359</c:v>
                </c:pt>
                <c:pt idx="3" c:formatCode="m&quot;月&quot;d&quot;日&quot;">
                  <c:v>46360</c:v>
                </c:pt>
                <c:pt idx="4" c:formatCode="m&quot;月&quot;d&quot;日&quot;">
                  <c:v>46361</c:v>
                </c:pt>
                <c:pt idx="5" c:formatCode="m&quot;月&quot;d&quot;日&quot;">
                  <c:v>46362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  <c:pt idx="4">
                  <c:v>4.4</c:v>
                </c:pt>
                <c:pt idx="5">
                  <c:v>1.8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分类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m"月"d"日"</c:formatCode>
                <c:ptCount val="6"/>
                <c:pt idx="0" c:formatCode="m&quot;月&quot;d&quot;日&quot;">
                  <c:v>46357</c:v>
                </c:pt>
                <c:pt idx="1" c:formatCode="m&quot;月&quot;d&quot;日&quot;">
                  <c:v>46358</c:v>
                </c:pt>
                <c:pt idx="2" c:formatCode="m&quot;月&quot;d&quot;日&quot;">
                  <c:v>46359</c:v>
                </c:pt>
                <c:pt idx="3" c:formatCode="m&quot;月&quot;d&quot;日&quot;">
                  <c:v>46360</c:v>
                </c:pt>
                <c:pt idx="4" c:formatCode="m&quot;月&quot;d&quot;日&quot;">
                  <c:v>46361</c:v>
                </c:pt>
                <c:pt idx="5" c:formatCode="m&quot;月&quot;d&quot;日&quot;">
                  <c:v>46362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  <c:pt idx="5">
                  <c:v>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分类 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m"月"d"日"</c:formatCode>
                <c:ptCount val="6"/>
                <c:pt idx="0" c:formatCode="m&quot;月&quot;d&quot;日&quot;">
                  <c:v>46357</c:v>
                </c:pt>
                <c:pt idx="1" c:formatCode="m&quot;月&quot;d&quot;日&quot;">
                  <c:v>46358</c:v>
                </c:pt>
                <c:pt idx="2" c:formatCode="m&quot;月&quot;d&quot;日&quot;">
                  <c:v>46359</c:v>
                </c:pt>
                <c:pt idx="3" c:formatCode="m&quot;月&quot;d&quot;日&quot;">
                  <c:v>46360</c:v>
                </c:pt>
                <c:pt idx="4" c:formatCode="m&quot;月&quot;d&quot;日&quot;">
                  <c:v>46361</c:v>
                </c:pt>
                <c:pt idx="5" c:formatCode="m&quot;月&quot;d&quot;日&quot;">
                  <c:v>46362</c:v>
                </c:pt>
              </c:numCache>
            </c:numRef>
          </c:cat>
          <c:val>
            <c:numRef>
              <c:f>Sheet1!$E$2:$E$7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2.5</c:v>
                </c:pt>
                <c:pt idx="5">
                  <c:v>3.5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分类 5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m"月"d"日"</c:formatCode>
                <c:ptCount val="6"/>
                <c:pt idx="0" c:formatCode="m&quot;月&quot;d&quot;日&quot;">
                  <c:v>46357</c:v>
                </c:pt>
                <c:pt idx="1" c:formatCode="m&quot;月&quot;d&quot;日&quot;">
                  <c:v>46358</c:v>
                </c:pt>
                <c:pt idx="2" c:formatCode="m&quot;月&quot;d&quot;日&quot;">
                  <c:v>46359</c:v>
                </c:pt>
                <c:pt idx="3" c:formatCode="m&quot;月&quot;d&quot;日&quot;">
                  <c:v>46360</c:v>
                </c:pt>
                <c:pt idx="4" c:formatCode="m&quot;月&quot;d&quot;日&quot;">
                  <c:v>46361</c:v>
                </c:pt>
                <c:pt idx="5" c:formatCode="m&quot;月&quot;d&quot;日&quot;">
                  <c:v>46362</c:v>
                </c:pt>
              </c:numCache>
            </c:numRef>
          </c:cat>
          <c:val>
            <c:numRef>
              <c:f>Sheet1!$F$2:$F$7</c:f>
              <c:numCache>
                <c:formatCode>General</c:formatCode>
                <c:ptCount val="6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  <c:pt idx="4">
                  <c:v>4.4</c:v>
                </c:pt>
                <c:pt idx="5">
                  <c:v>1.8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分类 6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m"月"d"日"</c:formatCode>
                <c:ptCount val="6"/>
                <c:pt idx="0" c:formatCode="m&quot;月&quot;d&quot;日&quot;">
                  <c:v>46357</c:v>
                </c:pt>
                <c:pt idx="1" c:formatCode="m&quot;月&quot;d&quot;日&quot;">
                  <c:v>46358</c:v>
                </c:pt>
                <c:pt idx="2" c:formatCode="m&quot;月&quot;d&quot;日&quot;">
                  <c:v>46359</c:v>
                </c:pt>
                <c:pt idx="3" c:formatCode="m&quot;月&quot;d&quot;日&quot;">
                  <c:v>46360</c:v>
                </c:pt>
                <c:pt idx="4" c:formatCode="m&quot;月&quot;d&quot;日&quot;">
                  <c:v>46361</c:v>
                </c:pt>
                <c:pt idx="5" c:formatCode="m&quot;月&quot;d&quot;日&quot;">
                  <c:v>46362</c:v>
                </c:pt>
              </c:numCache>
            </c:numRef>
          </c:cat>
          <c:val>
            <c:numRef>
              <c:f>Sheet1!$G$2:$G$7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  <c:pt idx="5">
                  <c:v>3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分类 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m"月"d"日"</c:formatCode>
                <c:ptCount val="6"/>
                <c:pt idx="0" c:formatCode="m&quot;月&quot;d&quot;日&quot;">
                  <c:v>46357</c:v>
                </c:pt>
                <c:pt idx="1" c:formatCode="m&quot;月&quot;d&quot;日&quot;">
                  <c:v>46358</c:v>
                </c:pt>
                <c:pt idx="2" c:formatCode="m&quot;月&quot;d&quot;日&quot;">
                  <c:v>46359</c:v>
                </c:pt>
                <c:pt idx="3" c:formatCode="m&quot;月&quot;d&quot;日&quot;">
                  <c:v>46360</c:v>
                </c:pt>
                <c:pt idx="4" c:formatCode="m&quot;月&quot;d&quot;日&quot;">
                  <c:v>46361</c:v>
                </c:pt>
                <c:pt idx="5" c:formatCode="m&quot;月&quot;d&quot;日&quot;">
                  <c:v>46362</c:v>
                </c:pt>
              </c:numCache>
            </c:numRef>
          </c:cat>
          <c:val>
            <c:numRef>
              <c:f>Sheet1!$H$2:$H$7</c:f>
              <c:numCache>
                <c:formatCode>General</c:formatCode>
                <c:ptCount val="6"/>
                <c:pt idx="0">
                  <c:v>3.5</c:v>
                </c:pt>
                <c:pt idx="1">
                  <c:v>2.5</c:v>
                </c:pt>
                <c:pt idx="2">
                  <c:v>1.8</c:v>
                </c:pt>
                <c:pt idx="3">
                  <c:v>2.3</c:v>
                </c:pt>
                <c:pt idx="4">
                  <c:v>2.5</c:v>
                </c:pt>
                <c:pt idx="5">
                  <c:v>1.8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581616509"/>
        <c:axId val="473327341"/>
      </c:lineChart>
      <c:dateAx>
        <c:axId val="58161650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473327341"/>
        <c:crosses val="autoZero"/>
        <c:auto val="1"/>
        <c:lblOffset val="100"/>
        <c:baseTimeUnit val="days"/>
      </c:dateAx>
      <c:valAx>
        <c:axId val="47332734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58161650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0262456504034945"/>
          <c:y val="0.028738567316917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9b0182d-4127-43c7-a6f1-21718eb8b5cb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b="0">
          <a:solidFill>
            <a:schemeClr val="bg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68.xml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72.xml"/><Relationship Id="rId7" Type="http://schemas.openxmlformats.org/officeDocument/2006/relationships/image" Target="../media/image4.png"/><Relationship Id="rId6" Type="http://schemas.openxmlformats.org/officeDocument/2006/relationships/tags" Target="../tags/tag71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76.xml"/><Relationship Id="rId7" Type="http://schemas.openxmlformats.org/officeDocument/2006/relationships/image" Target="../media/image4.png"/><Relationship Id="rId6" Type="http://schemas.openxmlformats.org/officeDocument/2006/relationships/tags" Target="../tags/tag75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image" Target="../media/image4.png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image" Target="../media/image5.png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86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1" Type="http://schemas.openxmlformats.org/officeDocument/2006/relationships/tags" Target="../tags/tag7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99.xml"/><Relationship Id="rId15" Type="http://schemas.openxmlformats.org/officeDocument/2006/relationships/tags" Target="../tags/tag98.xml"/><Relationship Id="rId14" Type="http://schemas.openxmlformats.org/officeDocument/2006/relationships/image" Target="../media/image9.png"/><Relationship Id="rId13" Type="http://schemas.openxmlformats.org/officeDocument/2006/relationships/image" Target="../media/image4.png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tags" Target="../tags/tag8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1" Type="http://schemas.openxmlformats.org/officeDocument/2006/relationships/notesSlide" Target="../notesSlides/notesSlide3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9" Type="http://schemas.openxmlformats.org/officeDocument/2006/relationships/tags" Target="../tags/tag116.xml"/><Relationship Id="rId18" Type="http://schemas.openxmlformats.org/officeDocument/2006/relationships/image" Target="../media/image4.png"/><Relationship Id="rId17" Type="http://schemas.openxmlformats.org/officeDocument/2006/relationships/tags" Target="../tags/tag115.xml"/><Relationship Id="rId16" Type="http://schemas.openxmlformats.org/officeDocument/2006/relationships/tags" Target="../tags/tag114.xml"/><Relationship Id="rId15" Type="http://schemas.openxmlformats.org/officeDocument/2006/relationships/tags" Target="../tags/tag113.xml"/><Relationship Id="rId14" Type="http://schemas.openxmlformats.org/officeDocument/2006/relationships/image" Target="../media/image5.png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tags" Target="../tags/tag10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image" Target="../media/image5.png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tags" Target="../tags/tag11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image" Target="../media/image5.png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image" Target="../media/image4.png"/><Relationship Id="rId1" Type="http://schemas.openxmlformats.org/officeDocument/2006/relationships/tags" Target="../tags/tag12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42.xml"/><Relationship Id="rId8" Type="http://schemas.openxmlformats.org/officeDocument/2006/relationships/tags" Target="../tags/tag141.xml"/><Relationship Id="rId7" Type="http://schemas.openxmlformats.org/officeDocument/2006/relationships/tags" Target="../tags/tag140.xml"/><Relationship Id="rId6" Type="http://schemas.openxmlformats.org/officeDocument/2006/relationships/image" Target="../media/image5.png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image" Target="../media/image1.pn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44.xml"/><Relationship Id="rId11" Type="http://schemas.openxmlformats.org/officeDocument/2006/relationships/tags" Target="../tags/tag143.xml"/><Relationship Id="rId10" Type="http://schemas.openxmlformats.org/officeDocument/2006/relationships/image" Target="../media/image4.png"/><Relationship Id="rId1" Type="http://schemas.openxmlformats.org/officeDocument/2006/relationships/tags" Target="../tags/tag13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image" Target="../media/image5.png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image" Target="../media/image10.png"/><Relationship Id="rId3" Type="http://schemas.openxmlformats.org/officeDocument/2006/relationships/image" Target="../media/image1.png"/><Relationship Id="rId2" Type="http://schemas.openxmlformats.org/officeDocument/2006/relationships/tags" Target="../tags/tag148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55.xml"/><Relationship Id="rId12" Type="http://schemas.openxmlformats.org/officeDocument/2006/relationships/image" Target="../media/image4.png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tags" Target="../tags/tag14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image" Target="../media/image5.png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68.xml"/><Relationship Id="rId10" Type="http://schemas.openxmlformats.org/officeDocument/2006/relationships/image" Target="../media/image4.png"/><Relationship Id="rId1" Type="http://schemas.openxmlformats.org/officeDocument/2006/relationships/tags" Target="../tags/tag16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image" Target="../media/image5.png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78.xml"/><Relationship Id="rId10" Type="http://schemas.openxmlformats.org/officeDocument/2006/relationships/image" Target="../media/image4.png"/><Relationship Id="rId1" Type="http://schemas.openxmlformats.org/officeDocument/2006/relationships/chart" Target="../charts/chart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84.xml"/><Relationship Id="rId8" Type="http://schemas.openxmlformats.org/officeDocument/2006/relationships/tags" Target="../tags/tag183.xml"/><Relationship Id="rId7" Type="http://schemas.openxmlformats.org/officeDocument/2006/relationships/image" Target="../media/image4.png"/><Relationship Id="rId6" Type="http://schemas.openxmlformats.org/officeDocument/2006/relationships/tags" Target="../tags/tag182.xml"/><Relationship Id="rId5" Type="http://schemas.openxmlformats.org/officeDocument/2006/relationships/image" Target="../media/image5.png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86.xml"/><Relationship Id="rId10" Type="http://schemas.openxmlformats.org/officeDocument/2006/relationships/tags" Target="../tags/tag185.xml"/><Relationship Id="rId1" Type="http://schemas.openxmlformats.org/officeDocument/2006/relationships/chart" Target="../charts/char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7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98.xml"/><Relationship Id="rId13" Type="http://schemas.openxmlformats.org/officeDocument/2006/relationships/image" Target="../media/image4.png"/><Relationship Id="rId12" Type="http://schemas.openxmlformats.org/officeDocument/2006/relationships/tags" Target="../tags/tag197.xml"/><Relationship Id="rId11" Type="http://schemas.openxmlformats.org/officeDocument/2006/relationships/tags" Target="../tags/tag196.xml"/><Relationship Id="rId10" Type="http://schemas.openxmlformats.org/officeDocument/2006/relationships/tags" Target="../tags/tag195.xml"/><Relationship Id="rId1" Type="http://schemas.openxmlformats.org/officeDocument/2006/relationships/chart" Target="../charts/chart3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tags" Target="../tags/tag199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20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ags" Target="../tags/tag202.xml"/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1887855"/>
            <a:ext cx="10968990" cy="2227580"/>
          </a:xfrm>
        </p:spPr>
        <p:txBody>
          <a:bodyPr/>
          <a:p>
            <a:pPr algn="ctr"/>
            <a:r>
              <a:rPr lang="zh-CN" altLang="en-US" b="1"/>
              <a:t>基础配置</a:t>
            </a:r>
            <a:endParaRPr lang="zh-CN" altLang="en-US" b="1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45415" y="1494155"/>
          <a:ext cx="11801475" cy="51568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01475"/>
              </a:tblGrid>
              <a:tr h="515683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400" b="1">
                        <a:solidFill>
                          <a:schemeClr val="bg1">
                            <a:lumMod val="50000"/>
                          </a:schemeClr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3079750" y="1687830"/>
          <a:ext cx="8676640" cy="4722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7885"/>
                <a:gridCol w="1493520"/>
                <a:gridCol w="2943860"/>
                <a:gridCol w="1981200"/>
                <a:gridCol w="1400175"/>
              </a:tblGrid>
              <a:tr h="464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400" b="1"/>
                        <a:t>序号</a:t>
                      </a:r>
                      <a:endParaRPr lang="zh-CN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400" b="1"/>
                        <a:t>代码</a:t>
                      </a:r>
                      <a:endParaRPr lang="zh-CN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400" b="1"/>
                        <a:t>名称</a:t>
                      </a:r>
                      <a:endParaRPr lang="zh-CN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简称</a:t>
                      </a:r>
                      <a:endParaRPr lang="zh-CN" altLang="en-US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操作</a:t>
                      </a:r>
                      <a:endParaRPr lang="zh-CN" altLang="en-US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6545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6482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6482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794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800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794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800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800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6418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表格 31"/>
          <p:cNvGraphicFramePr/>
          <p:nvPr>
            <p:custDataLst>
              <p:tags r:id="rId3"/>
            </p:custDataLst>
          </p:nvPr>
        </p:nvGraphicFramePr>
        <p:xfrm>
          <a:off x="356870" y="1682115"/>
          <a:ext cx="2497455" cy="53352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7455"/>
              </a:tblGrid>
              <a:tr h="6140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检测项目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146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机组</a:t>
                      </a:r>
                      <a:r>
                        <a:rPr lang="en-US" altLang="zh-C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</a:t>
                      </a:r>
                      <a:r>
                        <a:rPr lang="zh-CN" alt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产线</a:t>
                      </a:r>
                      <a:endParaRPr lang="zh-CN" altLang="en-US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140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牌号</a:t>
                      </a:r>
                      <a:r>
                        <a:rPr lang="en-US" altLang="zh-C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</a:t>
                      </a:r>
                      <a:r>
                        <a:rPr lang="zh-CN" alt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品规</a:t>
                      </a:r>
                      <a:endParaRPr lang="zh-CN" altLang="en-US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87845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5" name="文本框 114"/>
          <p:cNvSpPr txBox="1"/>
          <p:nvPr/>
        </p:nvSpPr>
        <p:spPr>
          <a:xfrm>
            <a:off x="2971800" y="914400"/>
            <a:ext cx="8974455" cy="520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 anchorCtr="0">
            <a:noAutofit/>
          </a:bodyPr>
          <a:p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 2" panose="05020102010507070707" charset="0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3176905" y="1029970"/>
            <a:ext cx="3479800" cy="330783"/>
            <a:chOff x="4553" y="2710"/>
            <a:chExt cx="5480" cy="567"/>
          </a:xfrm>
          <a:solidFill>
            <a:srgbClr val="000000">
              <a:alpha val="0"/>
            </a:srgbClr>
          </a:solidFill>
        </p:grpSpPr>
        <p:sp>
          <p:nvSpPr>
            <p:cNvPr id="51" name="矩形 50"/>
            <p:cNvSpPr/>
            <p:nvPr/>
          </p:nvSpPr>
          <p:spPr>
            <a:xfrm>
              <a:off x="4553" y="2710"/>
              <a:ext cx="4878" cy="5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输入</a:t>
              </a:r>
              <a:r>
                <a:rPr lang="zh-CN" sz="1200" i="1">
                  <a:solidFill>
                    <a:schemeClr val="bg1">
                      <a:lumMod val="50000"/>
                    </a:schemeClr>
                  </a:solidFill>
                </a:rPr>
                <a:t>检测项代码或名称</a:t>
              </a:r>
              <a:endParaRPr 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57" y="2747"/>
              <a:ext cx="476" cy="496"/>
            </a:xfrm>
            <a:prstGeom prst="rect">
              <a:avLst/>
            </a:prstGeom>
            <a:grpFill/>
          </p:spPr>
        </p:pic>
      </p:grpSp>
      <p:grpSp>
        <p:nvGrpSpPr>
          <p:cNvPr id="9" name="组合 8"/>
          <p:cNvGrpSpPr/>
          <p:nvPr/>
        </p:nvGrpSpPr>
        <p:grpSpPr>
          <a:xfrm>
            <a:off x="10561955" y="1034415"/>
            <a:ext cx="1366520" cy="306705"/>
            <a:chOff x="14874" y="1831"/>
            <a:chExt cx="2152" cy="483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874" y="1921"/>
              <a:ext cx="353" cy="337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15209" y="1831"/>
              <a:ext cx="1817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400">
                  <a:sym typeface="Wingdings 2" panose="05020102010507070707" charset="0"/>
                </a:rPr>
                <a:t>增加检测项</a:t>
              </a:r>
              <a:endParaRPr lang="zh-CN" altLang="en-US" sz="1400">
                <a:sym typeface="Wingdings 2" panose="05020102010507070707" charset="0"/>
              </a:endParaRPr>
            </a:p>
          </p:txBody>
        </p:sp>
      </p:grpSp>
      <p:sp>
        <p:nvSpPr>
          <p:cNvPr id="119" name="椭圆 118"/>
          <p:cNvSpPr/>
          <p:nvPr/>
        </p:nvSpPr>
        <p:spPr>
          <a:xfrm>
            <a:off x="11297920" y="351790"/>
            <a:ext cx="352425" cy="337185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文本框 119"/>
          <p:cNvSpPr txBox="1"/>
          <p:nvPr/>
        </p:nvSpPr>
        <p:spPr>
          <a:xfrm>
            <a:off x="10542270" y="382270"/>
            <a:ext cx="7556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 i="1">
                <a:sym typeface="Wingdings 2" panose="05020102010507070707" charset="0"/>
              </a:rPr>
              <a:t>管理员</a:t>
            </a:r>
            <a:endParaRPr lang="zh-CN" altLang="en-US" sz="1200" i="1">
              <a:sym typeface="Wingdings 2" panose="05020102010507070707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5415" y="918210"/>
            <a:ext cx="2780030" cy="516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</a:rPr>
              <a:t>基础数据维护</a:t>
            </a:r>
            <a:endParaRPr lang="zh-CN" altLang="en-US" sz="14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179570" y="386715"/>
            <a:ext cx="6363335" cy="3035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rgbClr val="FF0000"/>
                </a:solidFill>
              </a:rPr>
              <a:t>请先维护检测项</a:t>
            </a:r>
            <a:r>
              <a:rPr lang="en-US" altLang="zh-CN" sz="1200">
                <a:solidFill>
                  <a:srgbClr val="FF0000"/>
                </a:solidFill>
              </a:rPr>
              <a:t> !!!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80385" y="362585"/>
            <a:ext cx="9912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solidFill>
                  <a:srgbClr val="FF0000"/>
                </a:solidFill>
                <a:sym typeface="Wingdings 2" panose="05020102010507070707" charset="0"/>
              </a:rPr>
              <a:t>基础配置</a:t>
            </a:r>
            <a:endParaRPr lang="zh-CN" altLang="en-US" sz="1400" b="1">
              <a:solidFill>
                <a:srgbClr val="FF0000"/>
              </a:solidFill>
              <a:sym typeface="Wingdings 2" panose="05020102010507070707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165" y="421640"/>
            <a:ext cx="196215" cy="198120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229235" y="340360"/>
            <a:ext cx="2395220" cy="368300"/>
            <a:chOff x="616" y="536"/>
            <a:chExt cx="3772" cy="580"/>
          </a:xfrm>
        </p:grpSpPr>
        <p:sp>
          <p:nvSpPr>
            <p:cNvPr id="17" name="文本框 16"/>
            <p:cNvSpPr txBox="1"/>
            <p:nvPr/>
          </p:nvSpPr>
          <p:spPr>
            <a:xfrm>
              <a:off x="1068" y="536"/>
              <a:ext cx="3321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>
                  <a:solidFill>
                    <a:srgbClr val="003B79"/>
                  </a:solidFill>
                  <a:sym typeface="Wingdings 2" panose="05020102010507070707" charset="0"/>
                </a:rPr>
                <a:t>缺陷图片分析平台</a:t>
              </a:r>
              <a:endParaRPr lang="zh-CN" altLang="en-US" b="1">
                <a:solidFill>
                  <a:srgbClr val="003B79"/>
                </a:solidFill>
                <a:sym typeface="Wingdings 2" panose="05020102010507070707" charset="0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6" y="619"/>
              <a:ext cx="435" cy="399"/>
            </a:xfrm>
            <a:prstGeom prst="rect">
              <a:avLst/>
            </a:prstGeom>
          </p:spPr>
        </p:pic>
      </p:grpSp>
    </p:spTree>
    <p:custDataLst>
      <p:tags r:id="rId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307340" y="1494155"/>
          <a:ext cx="11801475" cy="51568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01475"/>
              </a:tblGrid>
              <a:tr h="515683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400" b="1">
                        <a:solidFill>
                          <a:schemeClr val="bg1">
                            <a:lumMod val="50000"/>
                          </a:schemeClr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表格 31"/>
          <p:cNvGraphicFramePr/>
          <p:nvPr>
            <p:custDataLst>
              <p:tags r:id="rId2"/>
            </p:custDataLst>
          </p:nvPr>
        </p:nvGraphicFramePr>
        <p:xfrm>
          <a:off x="518795" y="1682115"/>
          <a:ext cx="2497455" cy="53352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7455"/>
              </a:tblGrid>
              <a:tr h="6140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检测项目</a:t>
                      </a: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146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机组</a:t>
                      </a:r>
                      <a:r>
                        <a:rPr lang="en-US" altLang="zh-CN" sz="140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产线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140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牌号</a:t>
                      </a:r>
                      <a:r>
                        <a:rPr lang="en-US" altLang="zh-CN" sz="1400"/>
                        <a:t>/</a:t>
                      </a:r>
                      <a:r>
                        <a:rPr lang="zh-CN" altLang="en-US" sz="1400"/>
                        <a:t>品规</a:t>
                      </a: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87845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5" name="文本框 114"/>
          <p:cNvSpPr txBox="1"/>
          <p:nvPr/>
        </p:nvSpPr>
        <p:spPr>
          <a:xfrm>
            <a:off x="3133725" y="914400"/>
            <a:ext cx="8974455" cy="520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 anchorCtr="0">
            <a:noAutofit/>
          </a:bodyPr>
          <a:p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 2" panose="05020102010507070707" charset="0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3338830" y="1029970"/>
            <a:ext cx="3479800" cy="330783"/>
            <a:chOff x="4553" y="2710"/>
            <a:chExt cx="5480" cy="567"/>
          </a:xfrm>
          <a:solidFill>
            <a:srgbClr val="000000">
              <a:alpha val="0"/>
            </a:srgbClr>
          </a:solidFill>
        </p:grpSpPr>
        <p:sp>
          <p:nvSpPr>
            <p:cNvPr id="51" name="矩形 50"/>
            <p:cNvSpPr/>
            <p:nvPr/>
          </p:nvSpPr>
          <p:spPr>
            <a:xfrm>
              <a:off x="4553" y="2710"/>
              <a:ext cx="4878" cy="5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输入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sz="1200" i="1">
                  <a:solidFill>
                    <a:schemeClr val="bg1">
                      <a:lumMod val="50000"/>
                    </a:schemeClr>
                  </a:solidFill>
                </a:rPr>
                <a:t>机组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名称或编码</a:t>
              </a:r>
              <a:endParaRPr lang="zh-CN" altLang="en-US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57" y="2747"/>
              <a:ext cx="476" cy="496"/>
            </a:xfrm>
            <a:prstGeom prst="rect">
              <a:avLst/>
            </a:prstGeom>
            <a:grpFill/>
          </p:spPr>
        </p:pic>
      </p:grpSp>
      <p:grpSp>
        <p:nvGrpSpPr>
          <p:cNvPr id="9" name="组合 8"/>
          <p:cNvGrpSpPr/>
          <p:nvPr/>
        </p:nvGrpSpPr>
        <p:grpSpPr>
          <a:xfrm>
            <a:off x="10723880" y="1034415"/>
            <a:ext cx="1366520" cy="306705"/>
            <a:chOff x="14874" y="1831"/>
            <a:chExt cx="2152" cy="483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74" y="1921"/>
              <a:ext cx="353" cy="337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15209" y="1831"/>
              <a:ext cx="1817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400">
                  <a:sym typeface="Wingdings 2" panose="05020102010507070707" charset="0"/>
                </a:rPr>
                <a:t>增加检测项</a:t>
              </a:r>
              <a:endParaRPr lang="zh-CN" altLang="en-US" sz="1400">
                <a:sym typeface="Wingdings 2" panose="05020102010507070707" charset="0"/>
              </a:endParaRPr>
            </a:p>
          </p:txBody>
        </p:sp>
      </p:grpSp>
      <p:sp>
        <p:nvSpPr>
          <p:cNvPr id="118" name="文本框 117"/>
          <p:cNvSpPr txBox="1"/>
          <p:nvPr/>
        </p:nvSpPr>
        <p:spPr>
          <a:xfrm>
            <a:off x="3242310" y="362585"/>
            <a:ext cx="9912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solidFill>
                  <a:srgbClr val="FF0000"/>
                </a:solidFill>
                <a:sym typeface="Wingdings 2" panose="05020102010507070707" charset="0"/>
              </a:rPr>
              <a:t>基础配置</a:t>
            </a:r>
            <a:endParaRPr lang="zh-CN" altLang="en-US" sz="1400" b="1">
              <a:solidFill>
                <a:srgbClr val="FF0000"/>
              </a:solidFill>
              <a:sym typeface="Wingdings 2" panose="05020102010507070707" charset="0"/>
            </a:endParaRPr>
          </a:p>
        </p:txBody>
      </p:sp>
      <p:sp>
        <p:nvSpPr>
          <p:cNvPr id="119" name="椭圆 118"/>
          <p:cNvSpPr/>
          <p:nvPr/>
        </p:nvSpPr>
        <p:spPr>
          <a:xfrm>
            <a:off x="11410315" y="351790"/>
            <a:ext cx="352425" cy="337185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文本框 119"/>
          <p:cNvSpPr txBox="1"/>
          <p:nvPr/>
        </p:nvSpPr>
        <p:spPr>
          <a:xfrm>
            <a:off x="10525760" y="382270"/>
            <a:ext cx="8845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 i="1">
                <a:sym typeface="Wingdings 2" panose="05020102010507070707" charset="0"/>
              </a:rPr>
              <a:t>管理员</a:t>
            </a:r>
            <a:endParaRPr lang="zh-CN" altLang="en-US" sz="1200" i="1">
              <a:sym typeface="Wingdings 2" panose="05020102010507070707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3090" y="421640"/>
            <a:ext cx="196215" cy="19812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07340" y="918210"/>
            <a:ext cx="2780030" cy="516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</a:rPr>
              <a:t>基础数据维护</a:t>
            </a:r>
            <a:endParaRPr lang="zh-CN" altLang="en-US" sz="1400" b="1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6"/>
            </p:custDataLst>
          </p:nvPr>
        </p:nvGraphicFramePr>
        <p:xfrm>
          <a:off x="3156585" y="1626870"/>
          <a:ext cx="8763001" cy="4770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0730"/>
                <a:gridCol w="1374140"/>
                <a:gridCol w="1438275"/>
                <a:gridCol w="1538605"/>
                <a:gridCol w="1347470"/>
                <a:gridCol w="971551"/>
                <a:gridCol w="1332230"/>
              </a:tblGrid>
              <a:tr h="5962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400" b="1"/>
                        <a:t>序号</a:t>
                      </a:r>
                      <a:endParaRPr lang="zh-CN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400" b="1"/>
                        <a:t>产线编码</a:t>
                      </a:r>
                      <a:endParaRPr lang="zh-CN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400" b="1"/>
                        <a:t>名</a:t>
                      </a:r>
                      <a:r>
                        <a:rPr lang="en-US" altLang="zh-CN" sz="1400" b="1"/>
                        <a:t> </a:t>
                      </a:r>
                      <a:r>
                        <a:rPr lang="zh-CN" sz="1400" b="1"/>
                        <a:t>称</a:t>
                      </a:r>
                      <a:endParaRPr lang="zh-CN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车</a:t>
                      </a:r>
                      <a:r>
                        <a:rPr lang="en-US" altLang="zh-CN" sz="1400" b="1"/>
                        <a:t> </a:t>
                      </a:r>
                      <a:r>
                        <a:rPr lang="zh-CN" altLang="en-US" sz="1400" b="1"/>
                        <a:t>间</a:t>
                      </a:r>
                      <a:endParaRPr lang="zh-CN" altLang="en-US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区</a:t>
                      </a:r>
                      <a:r>
                        <a:rPr lang="en-US" altLang="zh-CN" sz="1400" b="1"/>
                        <a:t> </a:t>
                      </a:r>
                      <a:r>
                        <a:rPr lang="zh-CN" altLang="en-US" sz="1400" b="1"/>
                        <a:t>域</a:t>
                      </a:r>
                      <a:endParaRPr lang="zh-CN" altLang="en-US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状</a:t>
                      </a:r>
                      <a:r>
                        <a:rPr lang="en-US" altLang="zh-CN" sz="1400" b="1"/>
                        <a:t> </a:t>
                      </a:r>
                      <a:r>
                        <a:rPr lang="zh-CN" altLang="en-US" sz="1400" b="1"/>
                        <a:t>态</a:t>
                      </a:r>
                      <a:endParaRPr lang="zh-CN" altLang="en-US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操</a:t>
                      </a:r>
                      <a:r>
                        <a:rPr lang="en-US" altLang="zh-CN" sz="1400" b="1"/>
                        <a:t> </a:t>
                      </a:r>
                      <a:r>
                        <a:rPr lang="zh-CN" altLang="en-US" sz="1400" b="1"/>
                        <a:t>作</a:t>
                      </a:r>
                      <a:endParaRPr lang="zh-CN" altLang="en-US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962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01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Y204586475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A01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启用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修改</a:t>
                      </a:r>
                      <a:r>
                        <a:rPr lang="en-US" altLang="zh-CN" sz="1400">
                          <a:solidFill>
                            <a:srgbClr val="FF0000"/>
                          </a:solidFill>
                        </a:rPr>
                        <a:t>   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删除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9626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9626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9626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9626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9626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9626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497705" y="364490"/>
            <a:ext cx="61258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olidFill>
                  <a:schemeClr val="tx1"/>
                </a:solidFill>
                <a:sym typeface="+mn-ea"/>
              </a:rPr>
              <a:t>烟支外观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五轮成像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小包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CCD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散包检测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条外观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更多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...</a:t>
            </a:r>
            <a:endParaRPr lang="en-US" altLang="zh-CN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 2" panose="05020102010507070707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91160" y="340360"/>
            <a:ext cx="2395220" cy="368300"/>
            <a:chOff x="616" y="536"/>
            <a:chExt cx="3772" cy="580"/>
          </a:xfrm>
        </p:grpSpPr>
        <p:sp>
          <p:nvSpPr>
            <p:cNvPr id="122" name="文本框 121"/>
            <p:cNvSpPr txBox="1"/>
            <p:nvPr/>
          </p:nvSpPr>
          <p:spPr>
            <a:xfrm>
              <a:off x="1068" y="536"/>
              <a:ext cx="3321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>
                  <a:solidFill>
                    <a:srgbClr val="003B79"/>
                  </a:solidFill>
                  <a:sym typeface="Wingdings 2" panose="05020102010507070707" charset="0"/>
                </a:rPr>
                <a:t>缺陷图片分析平台</a:t>
              </a:r>
              <a:endParaRPr lang="zh-CN" altLang="en-US" b="1">
                <a:solidFill>
                  <a:srgbClr val="003B79"/>
                </a:solidFill>
                <a:sym typeface="Wingdings 2" panose="05020102010507070707" charset="0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6" y="619"/>
              <a:ext cx="435" cy="399"/>
            </a:xfrm>
            <a:prstGeom prst="rect">
              <a:avLst/>
            </a:prstGeom>
          </p:spPr>
        </p:pic>
      </p:grpSp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83515" y="1494155"/>
          <a:ext cx="11801475" cy="51568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01475"/>
              </a:tblGrid>
              <a:tr h="515683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400" b="1">
                        <a:solidFill>
                          <a:schemeClr val="bg1">
                            <a:lumMod val="50000"/>
                          </a:schemeClr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表格 31"/>
          <p:cNvGraphicFramePr/>
          <p:nvPr>
            <p:custDataLst>
              <p:tags r:id="rId2"/>
            </p:custDataLst>
          </p:nvPr>
        </p:nvGraphicFramePr>
        <p:xfrm>
          <a:off x="394970" y="1682115"/>
          <a:ext cx="2497455" cy="53352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7455"/>
              </a:tblGrid>
              <a:tr h="6140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检测项目</a:t>
                      </a: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146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机组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产线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140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牌号</a:t>
                      </a:r>
                      <a:r>
                        <a:rPr lang="en-US" altLang="zh-CN" sz="140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品规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87845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5" name="文本框 114"/>
          <p:cNvSpPr txBox="1"/>
          <p:nvPr/>
        </p:nvSpPr>
        <p:spPr>
          <a:xfrm>
            <a:off x="3009900" y="914400"/>
            <a:ext cx="8974455" cy="520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 anchorCtr="0">
            <a:noAutofit/>
          </a:bodyPr>
          <a:p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 2" panose="05020102010507070707" charset="0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3215005" y="1029970"/>
            <a:ext cx="3479800" cy="330783"/>
            <a:chOff x="4553" y="2710"/>
            <a:chExt cx="5480" cy="567"/>
          </a:xfrm>
          <a:solidFill>
            <a:srgbClr val="000000">
              <a:alpha val="0"/>
            </a:srgbClr>
          </a:solidFill>
        </p:grpSpPr>
        <p:sp>
          <p:nvSpPr>
            <p:cNvPr id="51" name="矩形 50"/>
            <p:cNvSpPr/>
            <p:nvPr/>
          </p:nvSpPr>
          <p:spPr>
            <a:xfrm>
              <a:off x="4553" y="2710"/>
              <a:ext cx="4878" cy="5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  <a:sym typeface="+mn-ea"/>
                </a:rPr>
                <a:t>输入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  <a:sym typeface="+mn-ea"/>
                </a:rPr>
                <a:t> </a:t>
              </a:r>
              <a:r>
                <a:rPr lang="zh-CN" sz="1200" i="1">
                  <a:solidFill>
                    <a:schemeClr val="bg1">
                      <a:lumMod val="50000"/>
                    </a:schemeClr>
                  </a:solidFill>
                  <a:sym typeface="+mn-ea"/>
                </a:rPr>
                <a:t>产品代码或规格</a:t>
              </a:r>
              <a:endParaRPr lang="zh-CN" altLang="en-US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57" y="2747"/>
              <a:ext cx="476" cy="496"/>
            </a:xfrm>
            <a:prstGeom prst="rect">
              <a:avLst/>
            </a:prstGeom>
            <a:grpFill/>
          </p:spPr>
        </p:pic>
      </p:grpSp>
      <p:grpSp>
        <p:nvGrpSpPr>
          <p:cNvPr id="9" name="组合 8"/>
          <p:cNvGrpSpPr/>
          <p:nvPr/>
        </p:nvGrpSpPr>
        <p:grpSpPr>
          <a:xfrm>
            <a:off x="10638155" y="1034415"/>
            <a:ext cx="1328420" cy="306705"/>
            <a:chOff x="14934" y="1831"/>
            <a:chExt cx="2092" cy="483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934" y="1921"/>
              <a:ext cx="353" cy="337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15209" y="1831"/>
              <a:ext cx="1817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400">
                  <a:sym typeface="Wingdings 2" panose="05020102010507070707" charset="0"/>
                </a:rPr>
                <a:t>增加检测项</a:t>
              </a:r>
              <a:endParaRPr lang="zh-CN" altLang="en-US" sz="1400">
                <a:sym typeface="Wingdings 2" panose="05020102010507070707" charset="0"/>
              </a:endParaRPr>
            </a:p>
          </p:txBody>
        </p:sp>
      </p:grpSp>
      <p:sp>
        <p:nvSpPr>
          <p:cNvPr id="118" name="文本框 117"/>
          <p:cNvSpPr txBox="1"/>
          <p:nvPr/>
        </p:nvSpPr>
        <p:spPr>
          <a:xfrm>
            <a:off x="2960370" y="362585"/>
            <a:ext cx="100965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solidFill>
                  <a:srgbClr val="FF0000"/>
                </a:solidFill>
                <a:sym typeface="Wingdings 2" panose="05020102010507070707" charset="0"/>
              </a:rPr>
              <a:t>基础配置</a:t>
            </a:r>
            <a:endParaRPr lang="zh-CN" altLang="en-US" sz="1400" b="1">
              <a:solidFill>
                <a:srgbClr val="FF0000"/>
              </a:solidFill>
              <a:sym typeface="Wingdings 2" panose="05020102010507070707" charset="0"/>
            </a:endParaRPr>
          </a:p>
        </p:txBody>
      </p:sp>
      <p:sp>
        <p:nvSpPr>
          <p:cNvPr id="119" name="椭圆 118"/>
          <p:cNvSpPr/>
          <p:nvPr/>
        </p:nvSpPr>
        <p:spPr>
          <a:xfrm>
            <a:off x="11280140" y="351790"/>
            <a:ext cx="358775" cy="337185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文本框 119"/>
          <p:cNvSpPr txBox="1"/>
          <p:nvPr/>
        </p:nvSpPr>
        <p:spPr>
          <a:xfrm>
            <a:off x="10379075" y="382270"/>
            <a:ext cx="90106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 i="1">
                <a:sym typeface="Wingdings 2" panose="05020102010507070707" charset="0"/>
              </a:rPr>
              <a:t>管理员</a:t>
            </a:r>
            <a:endParaRPr lang="zh-CN" altLang="en-US" sz="1200" i="1">
              <a:sym typeface="Wingdings 2" panose="05020102010507070707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9245" y="421640"/>
            <a:ext cx="200025" cy="19812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3515" y="918210"/>
            <a:ext cx="2780030" cy="516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</a:rPr>
              <a:t>基础数据维护</a:t>
            </a:r>
            <a:endParaRPr lang="zh-CN" altLang="en-US" sz="1400" b="1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6"/>
            </p:custDataLst>
          </p:nvPr>
        </p:nvGraphicFramePr>
        <p:xfrm>
          <a:off x="3009265" y="1614170"/>
          <a:ext cx="8785860" cy="4795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8850"/>
                <a:gridCol w="1816100"/>
                <a:gridCol w="3423285"/>
                <a:gridCol w="1209675"/>
                <a:gridCol w="1377950"/>
              </a:tblGrid>
              <a:tr h="5994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400" b="1"/>
                        <a:t>序号</a:t>
                      </a:r>
                      <a:endParaRPr lang="zh-CN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400" b="1"/>
                        <a:t>产品代码</a:t>
                      </a:r>
                      <a:endParaRPr lang="zh-CN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400" b="1"/>
                        <a:t>产品规格</a:t>
                      </a:r>
                      <a:endParaRPr lang="zh-CN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状态</a:t>
                      </a:r>
                      <a:endParaRPr lang="zh-CN" altLang="en-US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操作</a:t>
                      </a:r>
                      <a:endParaRPr lang="zh-CN" altLang="en-US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994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01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3301231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中华（软）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启用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修改</a:t>
                      </a:r>
                      <a:r>
                        <a:rPr lang="en-US" altLang="zh-CN" sz="1400">
                          <a:solidFill>
                            <a:srgbClr val="FF0000"/>
                          </a:solidFill>
                        </a:rPr>
                        <a:t>   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删除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9944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9944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9944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9944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9944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9944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354830" y="364490"/>
            <a:ext cx="61258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olidFill>
                  <a:schemeClr val="tx1"/>
                </a:solidFill>
                <a:sym typeface="+mn-ea"/>
              </a:rPr>
              <a:t>烟支外观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五轮成像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小包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CCD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散包检测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条外观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更多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...</a:t>
            </a:r>
            <a:endParaRPr lang="en-US" altLang="zh-CN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 2" panose="05020102010507070707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91160" y="321310"/>
            <a:ext cx="2395220" cy="368300"/>
            <a:chOff x="616" y="536"/>
            <a:chExt cx="3772" cy="580"/>
          </a:xfrm>
        </p:grpSpPr>
        <p:sp>
          <p:nvSpPr>
            <p:cNvPr id="8" name="文本框 7"/>
            <p:cNvSpPr txBox="1"/>
            <p:nvPr/>
          </p:nvSpPr>
          <p:spPr>
            <a:xfrm>
              <a:off x="1068" y="536"/>
              <a:ext cx="3321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>
                  <a:solidFill>
                    <a:srgbClr val="003B79"/>
                  </a:solidFill>
                  <a:sym typeface="Wingdings 2" panose="05020102010507070707" charset="0"/>
                </a:rPr>
                <a:t>缺陷图片分析平台</a:t>
              </a:r>
              <a:endParaRPr lang="zh-CN" altLang="en-US" b="1">
                <a:solidFill>
                  <a:srgbClr val="003B79"/>
                </a:solidFill>
                <a:sym typeface="Wingdings 2" panose="05020102010507070707" charset="0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6" y="619"/>
              <a:ext cx="435" cy="399"/>
            </a:xfrm>
            <a:prstGeom prst="rect">
              <a:avLst/>
            </a:prstGeom>
          </p:spPr>
        </p:pic>
      </p:grpSp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1887855"/>
            <a:ext cx="10968990" cy="2227580"/>
          </a:xfrm>
        </p:spPr>
        <p:txBody>
          <a:bodyPr/>
          <a:p>
            <a:pPr algn="ctr"/>
            <a:r>
              <a:rPr lang="zh-CN" altLang="en-US" b="1"/>
              <a:t>图像采集</a:t>
            </a:r>
            <a:endParaRPr lang="zh-CN" altLang="en-US" b="1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" name="矩形 106"/>
          <p:cNvSpPr/>
          <p:nvPr/>
        </p:nvSpPr>
        <p:spPr>
          <a:xfrm>
            <a:off x="516255" y="1393825"/>
            <a:ext cx="11207750" cy="516699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b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40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59" name="同侧圆角矩形 58"/>
          <p:cNvSpPr/>
          <p:nvPr>
            <p:custDataLst>
              <p:tags r:id="rId1"/>
            </p:custDataLst>
          </p:nvPr>
        </p:nvSpPr>
        <p:spPr>
          <a:xfrm>
            <a:off x="4757420" y="101854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Calibri" panose="020F0502020204030204" charset="0"/>
              </a:rPr>
              <a:t>③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sz="1400">
                <a:solidFill>
                  <a:schemeClr val="tx1"/>
                </a:solidFill>
              </a:rPr>
              <a:t>模型训练与版本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62" name="同侧圆角矩形 61"/>
          <p:cNvSpPr/>
          <p:nvPr/>
        </p:nvSpPr>
        <p:spPr>
          <a:xfrm>
            <a:off x="6870065" y="101854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④</a:t>
            </a:r>
            <a:r>
              <a:rPr lang="en-US" alt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sz="1400">
                <a:solidFill>
                  <a:schemeClr val="tx1"/>
                </a:solidFill>
              </a:rPr>
              <a:t>结果统计与展示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65" name="同侧圆角矩形 64"/>
          <p:cNvSpPr/>
          <p:nvPr>
            <p:custDataLst>
              <p:tags r:id="rId2"/>
            </p:custDataLst>
          </p:nvPr>
        </p:nvSpPr>
        <p:spPr>
          <a:xfrm>
            <a:off x="526415" y="1018540"/>
            <a:ext cx="2033905" cy="37465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  <a:latin typeface="Calibri" panose="020F0502020204030204" charset="0"/>
              </a:rPr>
              <a:t>①</a:t>
            </a:r>
            <a:r>
              <a:rPr lang="en-US" altLang="zh-CN" sz="1400" b="1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altLang="en-US" sz="1400" b="1">
                <a:solidFill>
                  <a:schemeClr val="tx1"/>
                </a:solidFill>
              </a:rPr>
              <a:t>图像集成与采集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66" name="同侧圆角矩形 65"/>
          <p:cNvSpPr/>
          <p:nvPr>
            <p:custDataLst>
              <p:tags r:id="rId3"/>
            </p:custDataLst>
          </p:nvPr>
        </p:nvSpPr>
        <p:spPr>
          <a:xfrm>
            <a:off x="2633345" y="101854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②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权限分类与标注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497705" y="414020"/>
            <a:ext cx="61258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olidFill>
                  <a:srgbClr val="FF0000"/>
                </a:solidFill>
                <a:sym typeface="+mn-ea"/>
              </a:rPr>
              <a:t>烟支外观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五轮成像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小包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CCD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散包检测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条外观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更多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...</a:t>
            </a:r>
            <a:endParaRPr lang="en-US" altLang="zh-CN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 2" panose="05020102010507070707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 rot="0">
            <a:off x="3134360" y="413385"/>
            <a:ext cx="1132840" cy="306705"/>
            <a:chOff x="15165" y="681"/>
            <a:chExt cx="1809" cy="483"/>
          </a:xfrm>
        </p:grpSpPr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165" y="755"/>
              <a:ext cx="353" cy="329"/>
            </a:xfrm>
            <a:prstGeom prst="rect">
              <a:avLst/>
            </a:prstGeom>
          </p:spPr>
        </p:pic>
        <p:sp>
          <p:nvSpPr>
            <p:cNvPr id="74" name="文本框 73"/>
            <p:cNvSpPr txBox="1"/>
            <p:nvPr/>
          </p:nvSpPr>
          <p:spPr>
            <a:xfrm>
              <a:off x="15413" y="681"/>
              <a:ext cx="1561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400">
                  <a:sym typeface="Wingdings 2" panose="05020102010507070707" charset="0"/>
                </a:rPr>
                <a:t>基础设置</a:t>
              </a:r>
              <a:endParaRPr lang="zh-CN" altLang="en-US" sz="1400">
                <a:sym typeface="Wingdings 2" panose="05020102010507070707" charset="0"/>
              </a:endParaRPr>
            </a:p>
          </p:txBody>
        </p:sp>
      </p:grpSp>
      <p:sp>
        <p:nvSpPr>
          <p:cNvPr id="81" name="椭圆 80"/>
          <p:cNvSpPr/>
          <p:nvPr/>
        </p:nvSpPr>
        <p:spPr>
          <a:xfrm>
            <a:off x="11472545" y="398780"/>
            <a:ext cx="347345" cy="337185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10600055" y="429260"/>
            <a:ext cx="8718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 i="1">
                <a:sym typeface="Wingdings 2" panose="05020102010507070707" charset="0"/>
              </a:rPr>
              <a:t>管理员</a:t>
            </a:r>
            <a:endParaRPr lang="zh-CN" altLang="en-US" sz="1200" i="1">
              <a:sym typeface="Wingdings 2" panose="05020102010507070707" charset="0"/>
            </a:endParaRPr>
          </a:p>
        </p:txBody>
      </p:sp>
      <p:grpSp>
        <p:nvGrpSpPr>
          <p:cNvPr id="86" name="组合 85"/>
          <p:cNvGrpSpPr/>
          <p:nvPr>
            <p:custDataLst>
              <p:tags r:id="rId5"/>
            </p:custDataLst>
          </p:nvPr>
        </p:nvGrpSpPr>
        <p:grpSpPr>
          <a:xfrm rot="0">
            <a:off x="9607550" y="1028700"/>
            <a:ext cx="2117725" cy="354330"/>
            <a:chOff x="6870" y="3059"/>
            <a:chExt cx="3335" cy="412"/>
          </a:xfrm>
          <a:solidFill>
            <a:schemeClr val="bg1">
              <a:lumMod val="95000"/>
            </a:schemeClr>
          </a:solidFill>
        </p:grpSpPr>
        <p:sp>
          <p:nvSpPr>
            <p:cNvPr id="87" name="矩形 86"/>
            <p:cNvSpPr/>
            <p:nvPr>
              <p:custDataLst>
                <p:tags r:id="rId6"/>
              </p:custDataLst>
            </p:nvPr>
          </p:nvSpPr>
          <p:spPr>
            <a:xfrm>
              <a:off x="6870" y="3059"/>
              <a:ext cx="1617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选择车间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矩形 87"/>
            <p:cNvSpPr/>
            <p:nvPr>
              <p:custDataLst>
                <p:tags r:id="rId7"/>
              </p:custDataLst>
            </p:nvPr>
          </p:nvSpPr>
          <p:spPr>
            <a:xfrm>
              <a:off x="8575" y="3059"/>
              <a:ext cx="1630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选择区域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35940" y="355600"/>
            <a:ext cx="2395220" cy="368300"/>
            <a:chOff x="616" y="536"/>
            <a:chExt cx="3772" cy="580"/>
          </a:xfrm>
        </p:grpSpPr>
        <p:sp>
          <p:nvSpPr>
            <p:cNvPr id="122" name="文本框 121"/>
            <p:cNvSpPr txBox="1"/>
            <p:nvPr/>
          </p:nvSpPr>
          <p:spPr>
            <a:xfrm>
              <a:off x="1068" y="536"/>
              <a:ext cx="3321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>
                  <a:solidFill>
                    <a:srgbClr val="003B79"/>
                  </a:solidFill>
                  <a:sym typeface="Wingdings 2" panose="05020102010507070707" charset="0"/>
                </a:rPr>
                <a:t>缺陷图片分析平台</a:t>
              </a:r>
              <a:endParaRPr lang="zh-CN" altLang="en-US" b="1">
                <a:solidFill>
                  <a:srgbClr val="003B79"/>
                </a:solidFill>
                <a:sym typeface="Wingdings 2" panose="05020102010507070707" charset="0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6" y="619"/>
              <a:ext cx="435" cy="399"/>
            </a:xfrm>
            <a:prstGeom prst="rect">
              <a:avLst/>
            </a:prstGeom>
          </p:spPr>
        </p:pic>
      </p:grpSp>
      <p:graphicFrame>
        <p:nvGraphicFramePr>
          <p:cNvPr id="2" name="表格 1"/>
          <p:cNvGraphicFramePr/>
          <p:nvPr>
            <p:custDataLst>
              <p:tags r:id="rId9"/>
            </p:custDataLst>
          </p:nvPr>
        </p:nvGraphicFramePr>
        <p:xfrm>
          <a:off x="638810" y="1640205"/>
          <a:ext cx="2221865" cy="44862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1865"/>
              </a:tblGrid>
              <a:tr h="47561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>
                          <a:solidFill>
                            <a:srgbClr val="C00000"/>
                          </a:solidFill>
                        </a:rPr>
                        <a:t>采集模式</a:t>
                      </a:r>
                      <a:endParaRPr lang="zh-CN" altLang="en-US" sz="1400">
                        <a:solidFill>
                          <a:srgbClr val="C00000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7561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服务配置</a:t>
                      </a: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7561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>
                          <a:solidFill>
                            <a:schemeClr val="bg1">
                              <a:lumMod val="50000"/>
                            </a:schemeClr>
                          </a:solidFill>
                          <a:sym typeface="Wingdings 2" panose="05020102010507070707" charset="0"/>
                        </a:rPr>
                        <a:t>终端配置</a:t>
                      </a:r>
                      <a:endParaRPr lang="zh-CN" altLang="en-US" sz="1400">
                        <a:solidFill>
                          <a:schemeClr val="bg1">
                            <a:lumMod val="50000"/>
                          </a:schemeClr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756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sym typeface="Wingdings 2" panose="05020102010507070707" charset="0"/>
                        </a:rPr>
                        <a:t>采集监控</a:t>
                      </a:r>
                      <a:endParaRPr lang="zh-CN" altLang="en-US" sz="1400">
                        <a:solidFill>
                          <a:schemeClr val="tx1"/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762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历史采集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sym typeface="Wingdings 2" panose="05020102010507070707" charset="0"/>
                        </a:rPr>
                        <a:t>图片查询</a:t>
                      </a:r>
                      <a:endParaRPr lang="zh-CN" altLang="en-US" sz="1400">
                        <a:solidFill>
                          <a:schemeClr val="tx1"/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63068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3322955" y="2016760"/>
            <a:ext cx="2527300" cy="4175760"/>
            <a:chOff x="5037" y="3108"/>
            <a:chExt cx="3980" cy="6576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3" y="3131"/>
              <a:ext cx="3890" cy="6485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7" name="矩形 6"/>
            <p:cNvSpPr/>
            <p:nvPr/>
          </p:nvSpPr>
          <p:spPr>
            <a:xfrm>
              <a:off x="5037" y="3108"/>
              <a:ext cx="3981" cy="6576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tIns="107950" rtlCol="0" anchor="t" anchorCtr="0"/>
            <a:p>
              <a:pPr algn="ctr"/>
              <a:r>
                <a:rPr lang="zh-CN" altLang="en-US" sz="1400">
                  <a:solidFill>
                    <a:schemeClr val="bg1">
                      <a:lumMod val="50000"/>
                    </a:schemeClr>
                  </a:solidFill>
                </a:rPr>
                <a:t>从成像检测工控机采集</a:t>
              </a:r>
              <a:endParaRPr lang="zh-CN" alt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158865" y="2025650"/>
            <a:ext cx="2527300" cy="4157980"/>
            <a:chOff x="9647" y="3107"/>
            <a:chExt cx="3980" cy="6548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666" y="3116"/>
              <a:ext cx="3889" cy="6501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9647" y="3107"/>
              <a:ext cx="3981" cy="654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tIns="107950" rtlCol="0" anchor="t" anchorCtr="0"/>
            <a:p>
              <a:pPr algn="ctr"/>
              <a:r>
                <a:rPr lang="zh-CN" altLang="en-US" sz="1400" b="1">
                  <a:solidFill>
                    <a:srgbClr val="FF0000"/>
                  </a:solidFill>
                </a:rPr>
                <a:t>从对象存储服务器采集</a:t>
              </a:r>
              <a:endParaRPr lang="zh-CN" altLang="en-US" sz="1400" b="1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9003030" y="1984375"/>
            <a:ext cx="2527300" cy="4149090"/>
            <a:chOff x="14293" y="3120"/>
            <a:chExt cx="3980" cy="653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325" y="3198"/>
              <a:ext cx="3902" cy="6403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14293" y="3120"/>
              <a:ext cx="3981" cy="6534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tIns="107950" numCol="1" spcCol="0" rtlCol="0" fromWordArt="0" anchor="t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400">
                  <a:solidFill>
                    <a:schemeClr val="bg1">
                      <a:lumMod val="50000"/>
                    </a:schemeClr>
                  </a:solidFill>
                  <a:sym typeface="+mn-ea"/>
                </a:rPr>
                <a:t>混合采集模式</a:t>
              </a:r>
              <a:endParaRPr lang="zh-CN" altLang="en-US" sz="1400">
                <a:solidFill>
                  <a:schemeClr val="bg1">
                    <a:lumMod val="50000"/>
                  </a:schemeClr>
                </a:solidFill>
                <a:sym typeface="+mn-ea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0024435" y="1558925"/>
            <a:ext cx="1518521" cy="319374"/>
            <a:chOff x="490" y="8583"/>
            <a:chExt cx="2706" cy="529"/>
          </a:xfrm>
        </p:grpSpPr>
        <p:sp>
          <p:nvSpPr>
            <p:cNvPr id="21" name="圆角矩形 20"/>
            <p:cNvSpPr/>
            <p:nvPr/>
          </p:nvSpPr>
          <p:spPr>
            <a:xfrm>
              <a:off x="490" y="8583"/>
              <a:ext cx="1307" cy="529"/>
            </a:xfrm>
            <a:prstGeom prst="roundRect">
              <a:avLst/>
            </a:prstGeom>
            <a:gradFill>
              <a:gsLst>
                <a:gs pos="51300">
                  <a:srgbClr val="32B0EA"/>
                </a:gs>
                <a:gs pos="0">
                  <a:srgbClr val="005F9F"/>
                </a:gs>
                <a:gs pos="100000">
                  <a:srgbClr val="ADDCE1"/>
                </a:gs>
              </a:gsLst>
              <a:lin ang="5400000" scaled="1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300"/>
                <a:t>修改</a:t>
              </a:r>
              <a:endParaRPr lang="zh-CN" sz="1300"/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1889" y="8583"/>
              <a:ext cx="1307" cy="52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300"/>
                <a:t>保存</a:t>
              </a:r>
              <a:endParaRPr lang="zh-CN" sz="1300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3263900" y="1616075"/>
            <a:ext cx="30499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buFont typeface="Wingdings" panose="05000000000000000000" charset="0"/>
              <a:buChar char="n"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选择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NG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图片来源</a:t>
            </a:r>
            <a:endParaRPr lang="zh-CN" altLang="en-US" sz="1400">
              <a:solidFill>
                <a:schemeClr val="bg1">
                  <a:lumMod val="50000"/>
                </a:schemeClr>
              </a:solidFill>
              <a:sym typeface="Wingdings 2" panose="05020102010507070707" charset="0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" name="矩形 106"/>
          <p:cNvSpPr/>
          <p:nvPr/>
        </p:nvSpPr>
        <p:spPr>
          <a:xfrm>
            <a:off x="516255" y="1393825"/>
            <a:ext cx="11207750" cy="5166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110865" y="2036445"/>
            <a:ext cx="8298815" cy="431990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9892355" y="1616075"/>
            <a:ext cx="1518521" cy="319374"/>
            <a:chOff x="490" y="8583"/>
            <a:chExt cx="2706" cy="529"/>
          </a:xfrm>
        </p:grpSpPr>
        <p:sp>
          <p:nvSpPr>
            <p:cNvPr id="71" name="圆角矩形 70"/>
            <p:cNvSpPr/>
            <p:nvPr/>
          </p:nvSpPr>
          <p:spPr>
            <a:xfrm>
              <a:off x="490" y="8583"/>
              <a:ext cx="1307" cy="529"/>
            </a:xfrm>
            <a:prstGeom prst="roundRect">
              <a:avLst/>
            </a:prstGeom>
            <a:gradFill>
              <a:gsLst>
                <a:gs pos="51300">
                  <a:srgbClr val="32B0EA"/>
                </a:gs>
                <a:gs pos="0">
                  <a:srgbClr val="005F9F"/>
                </a:gs>
                <a:gs pos="100000">
                  <a:srgbClr val="ADDCE1"/>
                </a:gs>
              </a:gsLst>
              <a:lin ang="5400000" scaled="1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300"/>
                <a:t>修改</a:t>
              </a:r>
              <a:endParaRPr lang="zh-CN" sz="1300"/>
            </a:p>
          </p:txBody>
        </p:sp>
        <p:sp>
          <p:nvSpPr>
            <p:cNvPr id="72" name="圆角矩形 71"/>
            <p:cNvSpPr/>
            <p:nvPr/>
          </p:nvSpPr>
          <p:spPr>
            <a:xfrm>
              <a:off x="1889" y="8583"/>
              <a:ext cx="1307" cy="52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300"/>
                <a:t>保存</a:t>
              </a:r>
              <a:endParaRPr lang="zh-CN" sz="1300"/>
            </a:p>
          </p:txBody>
        </p:sp>
      </p:grpSp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6144260" y="2393950"/>
            <a:ext cx="4388485" cy="3568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200">
                <a:solidFill>
                  <a:schemeClr val="tx1"/>
                </a:solidFill>
                <a:sym typeface="+mn-ea"/>
              </a:rPr>
              <a:t>127.0.0.1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:23456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296410" y="2444115"/>
            <a:ext cx="1847850" cy="30670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r"/>
            <a:r>
              <a:rPr lang="zh-CN" altLang="en-US" sz="1400"/>
              <a:t>输入服务器地址：</a:t>
            </a:r>
            <a:endParaRPr lang="zh-CN" altLang="en-US" sz="1400"/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6144260" y="3063240"/>
            <a:ext cx="4388485" cy="3568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200">
                <a:solidFill>
                  <a:schemeClr val="tx1"/>
                </a:solidFill>
                <a:sym typeface="+mn-ea"/>
              </a:rPr>
              <a:t>ng_yzwg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296410" y="3113405"/>
            <a:ext cx="1847850" cy="30670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r"/>
            <a:r>
              <a:rPr lang="zh-CN" altLang="en-US" sz="1400"/>
              <a:t>输入对象存储库名：</a:t>
            </a:r>
            <a:endParaRPr lang="zh-CN" altLang="en-US" sz="1400"/>
          </a:p>
        </p:txBody>
      </p:sp>
      <p:sp>
        <p:nvSpPr>
          <p:cNvPr id="38" name="矩形 37"/>
          <p:cNvSpPr/>
          <p:nvPr>
            <p:custDataLst>
              <p:tags r:id="rId3"/>
            </p:custDataLst>
          </p:nvPr>
        </p:nvSpPr>
        <p:spPr>
          <a:xfrm>
            <a:off x="6144260" y="4324985"/>
            <a:ext cx="1742440" cy="3568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200">
                <a:solidFill>
                  <a:schemeClr val="tx1"/>
                </a:solidFill>
              </a:rPr>
              <a:t>S*****B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296410" y="4375150"/>
            <a:ext cx="1847850" cy="30670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r"/>
            <a:r>
              <a:rPr lang="zh-CN" altLang="en-US" sz="1400"/>
              <a:t>用户名密码：</a:t>
            </a:r>
            <a:endParaRPr lang="zh-CN" altLang="en-US" sz="1400"/>
          </a:p>
        </p:txBody>
      </p:sp>
      <p:sp>
        <p:nvSpPr>
          <p:cNvPr id="43" name="文本框 42"/>
          <p:cNvSpPr txBox="1"/>
          <p:nvPr/>
        </p:nvSpPr>
        <p:spPr>
          <a:xfrm>
            <a:off x="8102600" y="4359275"/>
            <a:ext cx="692150" cy="30670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r"/>
            <a:r>
              <a:rPr lang="zh-CN" altLang="en-US" sz="1400"/>
              <a:t>密码：</a:t>
            </a:r>
            <a:endParaRPr lang="zh-CN" altLang="en-US" sz="1400"/>
          </a:p>
        </p:txBody>
      </p:sp>
      <p:sp>
        <p:nvSpPr>
          <p:cNvPr id="44" name="矩形 43"/>
          <p:cNvSpPr/>
          <p:nvPr>
            <p:custDataLst>
              <p:tags r:id="rId4"/>
            </p:custDataLst>
          </p:nvPr>
        </p:nvSpPr>
        <p:spPr>
          <a:xfrm>
            <a:off x="8807450" y="4370705"/>
            <a:ext cx="1725295" cy="3568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200">
                <a:solidFill>
                  <a:schemeClr val="tx1"/>
                </a:solidFill>
              </a:rPr>
              <a:t>*************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6118860" y="3710305"/>
            <a:ext cx="4413885" cy="3568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200">
                <a:solidFill>
                  <a:schemeClr val="tx1"/>
                </a:solidFill>
                <a:sym typeface="+mn-ea"/>
              </a:rPr>
              <a:t>ng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_yzwg_out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271010" y="3760470"/>
            <a:ext cx="1847850" cy="30670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r"/>
            <a:r>
              <a:rPr lang="zh-CN" altLang="en-US" sz="1400"/>
              <a:t>输出图片存储库名：</a:t>
            </a:r>
            <a:endParaRPr lang="zh-CN" altLang="en-US" sz="1400"/>
          </a:p>
        </p:txBody>
      </p:sp>
      <p:sp>
        <p:nvSpPr>
          <p:cNvPr id="32" name="文本框 31"/>
          <p:cNvSpPr txBox="1"/>
          <p:nvPr/>
        </p:nvSpPr>
        <p:spPr>
          <a:xfrm>
            <a:off x="3093720" y="1616075"/>
            <a:ext cx="30499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buFont typeface="Wingdings" panose="05000000000000000000" charset="0"/>
              <a:buChar char="n"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对象存储系统读取图片</a:t>
            </a:r>
            <a:endParaRPr lang="en-US" altLang="zh-CN" sz="1400">
              <a:solidFill>
                <a:schemeClr val="bg1">
                  <a:lumMod val="50000"/>
                </a:schemeClr>
              </a:solidFill>
              <a:sym typeface="Wingdings 2" panose="05020102010507070707" charset="0"/>
            </a:endParaRPr>
          </a:p>
        </p:txBody>
      </p:sp>
      <p:sp>
        <p:nvSpPr>
          <p:cNvPr id="59" name="同侧圆角矩形 58"/>
          <p:cNvSpPr/>
          <p:nvPr>
            <p:custDataLst>
              <p:tags r:id="rId6"/>
            </p:custDataLst>
          </p:nvPr>
        </p:nvSpPr>
        <p:spPr>
          <a:xfrm>
            <a:off x="4757420" y="101854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Calibri" panose="020F0502020204030204" charset="0"/>
              </a:rPr>
              <a:t>③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sz="1400">
                <a:solidFill>
                  <a:schemeClr val="tx1"/>
                </a:solidFill>
              </a:rPr>
              <a:t>模型训练与版本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62" name="同侧圆角矩形 61"/>
          <p:cNvSpPr/>
          <p:nvPr/>
        </p:nvSpPr>
        <p:spPr>
          <a:xfrm>
            <a:off x="6870065" y="101854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④</a:t>
            </a:r>
            <a:r>
              <a:rPr lang="en-US" alt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sz="1400">
                <a:solidFill>
                  <a:schemeClr val="tx1"/>
                </a:solidFill>
              </a:rPr>
              <a:t>结果统计与展示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65" name="同侧圆角矩形 64"/>
          <p:cNvSpPr/>
          <p:nvPr>
            <p:custDataLst>
              <p:tags r:id="rId7"/>
            </p:custDataLst>
          </p:nvPr>
        </p:nvSpPr>
        <p:spPr>
          <a:xfrm>
            <a:off x="526415" y="1018540"/>
            <a:ext cx="2033905" cy="37465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  <a:latin typeface="Calibri" panose="020F0502020204030204" charset="0"/>
              </a:rPr>
              <a:t>①</a:t>
            </a:r>
            <a:r>
              <a:rPr lang="en-US" altLang="zh-CN" sz="1400" b="1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altLang="en-US" sz="1400" b="1">
                <a:solidFill>
                  <a:schemeClr val="tx1"/>
                </a:solidFill>
              </a:rPr>
              <a:t>图像集成与采集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66" name="同侧圆角矩形 65"/>
          <p:cNvSpPr/>
          <p:nvPr>
            <p:custDataLst>
              <p:tags r:id="rId8"/>
            </p:custDataLst>
          </p:nvPr>
        </p:nvSpPr>
        <p:spPr>
          <a:xfrm>
            <a:off x="2633345" y="101854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②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权限分类与标注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497705" y="414020"/>
            <a:ext cx="61258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olidFill>
                  <a:srgbClr val="FF0000"/>
                </a:solidFill>
                <a:sym typeface="+mn-ea"/>
              </a:rPr>
              <a:t>烟支外观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五轮成像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小包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CCD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散包检测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条外观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更多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...</a:t>
            </a:r>
            <a:endParaRPr lang="en-US" altLang="zh-CN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 2" panose="05020102010507070707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 rot="0">
            <a:off x="3134360" y="413385"/>
            <a:ext cx="1132840" cy="306705"/>
            <a:chOff x="15165" y="681"/>
            <a:chExt cx="1809" cy="483"/>
          </a:xfrm>
        </p:grpSpPr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165" y="755"/>
              <a:ext cx="353" cy="329"/>
            </a:xfrm>
            <a:prstGeom prst="rect">
              <a:avLst/>
            </a:prstGeom>
          </p:spPr>
        </p:pic>
        <p:sp>
          <p:nvSpPr>
            <p:cNvPr id="74" name="文本框 73"/>
            <p:cNvSpPr txBox="1"/>
            <p:nvPr/>
          </p:nvSpPr>
          <p:spPr>
            <a:xfrm>
              <a:off x="15413" y="681"/>
              <a:ext cx="1561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400">
                  <a:sym typeface="Wingdings 2" panose="05020102010507070707" charset="0"/>
                </a:rPr>
                <a:t>基础设置</a:t>
              </a:r>
              <a:endParaRPr lang="zh-CN" altLang="en-US" sz="1400">
                <a:sym typeface="Wingdings 2" panose="05020102010507070707" charset="0"/>
              </a:endParaRPr>
            </a:p>
          </p:txBody>
        </p:sp>
      </p:grpSp>
      <p:sp>
        <p:nvSpPr>
          <p:cNvPr id="81" name="椭圆 80"/>
          <p:cNvSpPr/>
          <p:nvPr/>
        </p:nvSpPr>
        <p:spPr>
          <a:xfrm>
            <a:off x="11472545" y="398780"/>
            <a:ext cx="347345" cy="337185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10600055" y="429260"/>
            <a:ext cx="8718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 i="1">
                <a:sym typeface="Wingdings 2" panose="05020102010507070707" charset="0"/>
              </a:rPr>
              <a:t>管理员</a:t>
            </a:r>
            <a:endParaRPr lang="zh-CN" altLang="en-US" sz="1200" i="1">
              <a:sym typeface="Wingdings 2" panose="05020102010507070707" charset="0"/>
            </a:endParaRPr>
          </a:p>
        </p:txBody>
      </p:sp>
      <p:grpSp>
        <p:nvGrpSpPr>
          <p:cNvPr id="86" name="组合 85"/>
          <p:cNvGrpSpPr/>
          <p:nvPr>
            <p:custDataLst>
              <p:tags r:id="rId10"/>
            </p:custDataLst>
          </p:nvPr>
        </p:nvGrpSpPr>
        <p:grpSpPr>
          <a:xfrm rot="0">
            <a:off x="9607550" y="1028700"/>
            <a:ext cx="2117725" cy="354330"/>
            <a:chOff x="6870" y="3059"/>
            <a:chExt cx="3335" cy="412"/>
          </a:xfrm>
          <a:solidFill>
            <a:schemeClr val="bg1">
              <a:lumMod val="95000"/>
            </a:schemeClr>
          </a:solidFill>
        </p:grpSpPr>
        <p:sp>
          <p:nvSpPr>
            <p:cNvPr id="87" name="矩形 86"/>
            <p:cNvSpPr/>
            <p:nvPr>
              <p:custDataLst>
                <p:tags r:id="rId11"/>
              </p:custDataLst>
            </p:nvPr>
          </p:nvSpPr>
          <p:spPr>
            <a:xfrm>
              <a:off x="6870" y="3059"/>
              <a:ext cx="1617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选择车间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矩形 87"/>
            <p:cNvSpPr/>
            <p:nvPr>
              <p:custDataLst>
                <p:tags r:id="rId12"/>
              </p:custDataLst>
            </p:nvPr>
          </p:nvSpPr>
          <p:spPr>
            <a:xfrm>
              <a:off x="8575" y="3059"/>
              <a:ext cx="1630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选择区域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35940" y="355600"/>
            <a:ext cx="2395220" cy="368300"/>
            <a:chOff x="616" y="536"/>
            <a:chExt cx="3772" cy="580"/>
          </a:xfrm>
        </p:grpSpPr>
        <p:sp>
          <p:nvSpPr>
            <p:cNvPr id="122" name="文本框 121"/>
            <p:cNvSpPr txBox="1"/>
            <p:nvPr/>
          </p:nvSpPr>
          <p:spPr>
            <a:xfrm>
              <a:off x="1068" y="536"/>
              <a:ext cx="3321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>
                  <a:solidFill>
                    <a:srgbClr val="003B79"/>
                  </a:solidFill>
                  <a:sym typeface="Wingdings 2" panose="05020102010507070707" charset="0"/>
                </a:rPr>
                <a:t>缺陷图片分析平台</a:t>
              </a:r>
              <a:endParaRPr lang="zh-CN" altLang="en-US" b="1">
                <a:solidFill>
                  <a:srgbClr val="003B79"/>
                </a:solidFill>
                <a:sym typeface="Wingdings 2" panose="05020102010507070707" charset="0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16" y="619"/>
              <a:ext cx="435" cy="399"/>
            </a:xfrm>
            <a:prstGeom prst="rect">
              <a:avLst/>
            </a:prstGeom>
          </p:spPr>
        </p:pic>
      </p:grpSp>
      <p:grpSp>
        <p:nvGrpSpPr>
          <p:cNvPr id="2" name="组合 1"/>
          <p:cNvGrpSpPr/>
          <p:nvPr/>
        </p:nvGrpSpPr>
        <p:grpSpPr>
          <a:xfrm>
            <a:off x="5873750" y="5090160"/>
            <a:ext cx="1239520" cy="275590"/>
            <a:chOff x="15478" y="5850"/>
            <a:chExt cx="1952" cy="43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7037" y="5909"/>
              <a:ext cx="393" cy="344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15478" y="5850"/>
              <a:ext cx="1472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1200" u="sng">
                  <a:solidFill>
                    <a:srgbClr val="FF0000"/>
                  </a:solidFill>
                </a:rPr>
                <a:t>测试连接</a:t>
              </a:r>
              <a:endParaRPr lang="zh-CN" altLang="en-US" sz="1200" u="sng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5" name="表格 4"/>
          <p:cNvGraphicFramePr/>
          <p:nvPr>
            <p:custDataLst>
              <p:tags r:id="rId15"/>
            </p:custDataLst>
          </p:nvPr>
        </p:nvGraphicFramePr>
        <p:xfrm>
          <a:off x="638810" y="1640205"/>
          <a:ext cx="2221865" cy="4715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1865"/>
              </a:tblGrid>
              <a:tr h="4997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采集模式</a:t>
                      </a: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997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>
                          <a:solidFill>
                            <a:srgbClr val="C00000"/>
                          </a:solidFill>
                        </a:rPr>
                        <a:t>服务配置</a:t>
                      </a:r>
                      <a:endParaRPr lang="zh-CN" altLang="en-US" sz="1400">
                        <a:solidFill>
                          <a:srgbClr val="C00000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003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sym typeface="Wingdings 2" panose="05020102010507070707" charset="0"/>
                        </a:rPr>
                        <a:t>终端配置</a:t>
                      </a:r>
                      <a:endParaRPr lang="zh-CN" altLang="en-US" sz="1400">
                        <a:solidFill>
                          <a:schemeClr val="tx1"/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997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sym typeface="Wingdings 2" panose="05020102010507070707" charset="0"/>
                        </a:rPr>
                        <a:t>采集监控</a:t>
                      </a:r>
                      <a:endParaRPr lang="zh-CN" altLang="en-US" sz="1400">
                        <a:solidFill>
                          <a:schemeClr val="tx1"/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003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历史采集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010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sym typeface="Wingdings 2" panose="05020102010507070707" charset="0"/>
                        </a:rPr>
                        <a:t>图片查询</a:t>
                      </a:r>
                      <a:endParaRPr lang="zh-CN" altLang="en-US" sz="1400">
                        <a:solidFill>
                          <a:schemeClr val="tx1"/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7145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custDataLst>
      <p:tags r:id="rId1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" name="矩形 106"/>
          <p:cNvSpPr/>
          <p:nvPr/>
        </p:nvSpPr>
        <p:spPr>
          <a:xfrm>
            <a:off x="515620" y="1486535"/>
            <a:ext cx="11207750" cy="5166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3155315" y="2046605"/>
            <a:ext cx="8369300" cy="43084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10007925" y="1624330"/>
            <a:ext cx="1518521" cy="319374"/>
            <a:chOff x="490" y="8583"/>
            <a:chExt cx="2706" cy="529"/>
          </a:xfrm>
        </p:grpSpPr>
        <p:sp>
          <p:nvSpPr>
            <p:cNvPr id="71" name="圆角矩形 70"/>
            <p:cNvSpPr/>
            <p:nvPr/>
          </p:nvSpPr>
          <p:spPr>
            <a:xfrm>
              <a:off x="490" y="8583"/>
              <a:ext cx="1307" cy="529"/>
            </a:xfrm>
            <a:prstGeom prst="roundRect">
              <a:avLst/>
            </a:prstGeom>
            <a:gradFill>
              <a:gsLst>
                <a:gs pos="51300">
                  <a:srgbClr val="32B0EA"/>
                </a:gs>
                <a:gs pos="0">
                  <a:srgbClr val="005F9F"/>
                </a:gs>
                <a:gs pos="100000">
                  <a:srgbClr val="ADDCE1"/>
                </a:gs>
              </a:gsLst>
              <a:lin ang="5400000" scaled="1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300"/>
                <a:t>修改</a:t>
              </a:r>
              <a:endParaRPr lang="zh-CN" sz="1300"/>
            </a:p>
          </p:txBody>
        </p:sp>
        <p:sp>
          <p:nvSpPr>
            <p:cNvPr id="72" name="圆角矩形 71"/>
            <p:cNvSpPr/>
            <p:nvPr/>
          </p:nvSpPr>
          <p:spPr>
            <a:xfrm>
              <a:off x="1889" y="8583"/>
              <a:ext cx="1307" cy="52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300"/>
                <a:t>保存</a:t>
              </a:r>
              <a:endParaRPr lang="zh-CN" sz="1300"/>
            </a:p>
          </p:txBody>
        </p:sp>
      </p:grpSp>
      <p:graphicFrame>
        <p:nvGraphicFramePr>
          <p:cNvPr id="105" name="表格 104"/>
          <p:cNvGraphicFramePr/>
          <p:nvPr>
            <p:custDataLst>
              <p:tags r:id="rId1"/>
            </p:custDataLst>
          </p:nvPr>
        </p:nvGraphicFramePr>
        <p:xfrm>
          <a:off x="638810" y="1640205"/>
          <a:ext cx="2221865" cy="4715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1865"/>
              </a:tblGrid>
              <a:tr h="4997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采集模式</a:t>
                      </a: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997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服务配置</a:t>
                      </a: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003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>
                          <a:solidFill>
                            <a:srgbClr val="C00000"/>
                          </a:solidFill>
                          <a:sym typeface="Wingdings 2" panose="05020102010507070707" charset="0"/>
                        </a:rPr>
                        <a:t>终端配置</a:t>
                      </a:r>
                      <a:endParaRPr lang="zh-CN" altLang="en-US" sz="1400">
                        <a:solidFill>
                          <a:srgbClr val="C00000"/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997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sym typeface="Wingdings 2" panose="05020102010507070707" charset="0"/>
                        </a:rPr>
                        <a:t>采集监控</a:t>
                      </a:r>
                      <a:endParaRPr lang="zh-CN" altLang="en-US" sz="1400">
                        <a:solidFill>
                          <a:schemeClr val="tx1"/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003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历史采集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010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sym typeface="Wingdings 2" panose="05020102010507070707" charset="0"/>
                        </a:rPr>
                        <a:t>图片查询</a:t>
                      </a:r>
                      <a:endParaRPr lang="zh-CN" altLang="en-US" sz="1400">
                        <a:solidFill>
                          <a:schemeClr val="tx1"/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7145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2" name="文本框 31"/>
          <p:cNvSpPr txBox="1"/>
          <p:nvPr/>
        </p:nvSpPr>
        <p:spPr>
          <a:xfrm>
            <a:off x="3093720" y="1640840"/>
            <a:ext cx="261302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buFont typeface="Wingdings" panose="05000000000000000000" charset="0"/>
              <a:buChar char="n"/>
            </a:pPr>
            <a:r>
              <a:rPr lang="zh-CN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产线工控机采集图片</a:t>
            </a:r>
            <a:endParaRPr lang="zh-CN" sz="1400">
              <a:solidFill>
                <a:schemeClr val="bg1">
                  <a:lumMod val="50000"/>
                </a:schemeClr>
              </a:solidFill>
              <a:sym typeface="Wingdings 2" panose="05020102010507070707" charset="0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6918325" y="2353310"/>
            <a:ext cx="3516630" cy="3568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543425" y="2411095"/>
            <a:ext cx="2366645" cy="2914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r"/>
            <a:r>
              <a:rPr lang="zh-CN" altLang="en-US" sz="1300"/>
              <a:t>检测系统地址：</a:t>
            </a:r>
            <a:endParaRPr lang="zh-CN" altLang="en-US" sz="1300"/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918325" y="2851150"/>
            <a:ext cx="3516630" cy="3568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543425" y="2908935"/>
            <a:ext cx="2366645" cy="2914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r"/>
            <a:r>
              <a:rPr lang="en-US" altLang="zh-CN" sz="1300"/>
              <a:t>NG</a:t>
            </a:r>
            <a:r>
              <a:rPr lang="zh-CN" altLang="en-US" sz="1300"/>
              <a:t>图片文件目录名：</a:t>
            </a:r>
            <a:endParaRPr lang="zh-CN" altLang="en-US" sz="1300"/>
          </a:p>
        </p:txBody>
      </p:sp>
      <p:sp>
        <p:nvSpPr>
          <p:cNvPr id="35" name="文本框 34"/>
          <p:cNvSpPr txBox="1"/>
          <p:nvPr/>
        </p:nvSpPr>
        <p:spPr>
          <a:xfrm>
            <a:off x="4988560" y="5578475"/>
            <a:ext cx="330200" cy="2914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300">
                <a:sym typeface="Wingdings 2" panose="05020102010507070707" charset="0"/>
              </a:rPr>
              <a:t></a:t>
            </a:r>
            <a:endParaRPr lang="zh-CN" altLang="en-US" sz="1300">
              <a:sym typeface="Wingdings 2" panose="05020102010507070707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308600" y="5617210"/>
            <a:ext cx="1847850" cy="2914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l"/>
            <a:r>
              <a:rPr lang="zh-CN" altLang="en-US" sz="1300"/>
              <a:t>牌号在日期上一级</a:t>
            </a:r>
            <a:endParaRPr lang="zh-CN" altLang="en-US" sz="1300"/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6918325" y="3902075"/>
            <a:ext cx="1397000" cy="3568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200">
                <a:solidFill>
                  <a:schemeClr val="bg1">
                    <a:lumMod val="50000"/>
                  </a:schemeClr>
                </a:solidFill>
              </a:rPr>
              <a:t>YYYYMMDD      </a:t>
            </a:r>
            <a:r>
              <a:rPr lang="en-US" altLang="zh-CN" sz="1200">
                <a:solidFill>
                  <a:schemeClr val="tx1"/>
                </a:solidFill>
              </a:rPr>
              <a:t>v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43425" y="3959860"/>
            <a:ext cx="2366645" cy="2914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r"/>
            <a:r>
              <a:rPr lang="zh-CN" altLang="en-US" sz="1300"/>
              <a:t>日期目录名：</a:t>
            </a:r>
            <a:endParaRPr lang="zh-CN" altLang="en-US" sz="1300"/>
          </a:p>
        </p:txBody>
      </p:sp>
      <p:sp>
        <p:nvSpPr>
          <p:cNvPr id="23" name="文本框 22"/>
          <p:cNvSpPr txBox="1"/>
          <p:nvPr/>
        </p:nvSpPr>
        <p:spPr>
          <a:xfrm>
            <a:off x="8413750" y="3927475"/>
            <a:ext cx="1257300" cy="2914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r"/>
            <a:r>
              <a:rPr lang="zh-CN" altLang="en-US" sz="1300"/>
              <a:t>字符串位置：</a:t>
            </a:r>
            <a:endParaRPr lang="zh-CN" altLang="en-US" sz="1300"/>
          </a:p>
        </p:txBody>
      </p:sp>
      <p:sp>
        <p:nvSpPr>
          <p:cNvPr id="24" name="矩形 23"/>
          <p:cNvSpPr/>
          <p:nvPr>
            <p:custDataLst>
              <p:tags r:id="rId5"/>
            </p:custDataLst>
          </p:nvPr>
        </p:nvSpPr>
        <p:spPr>
          <a:xfrm>
            <a:off x="9653905" y="3910965"/>
            <a:ext cx="781685" cy="3568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200">
                <a:solidFill>
                  <a:schemeClr val="tx1"/>
                </a:solidFill>
              </a:rPr>
              <a:t>1,8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46" name="矩形 45"/>
          <p:cNvSpPr/>
          <p:nvPr>
            <p:custDataLst>
              <p:tags r:id="rId6"/>
            </p:custDataLst>
          </p:nvPr>
        </p:nvSpPr>
        <p:spPr>
          <a:xfrm>
            <a:off x="6918325" y="4432300"/>
            <a:ext cx="3516630" cy="3568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l"/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早、中、晚</a:t>
            </a:r>
            <a:endParaRPr lang="zh-CN" altLang="en-US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543425" y="4490085"/>
            <a:ext cx="2366645" cy="2914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r"/>
            <a:r>
              <a:rPr lang="zh-CN" altLang="en-US" sz="1300"/>
              <a:t>班次目录：</a:t>
            </a:r>
            <a:endParaRPr lang="zh-CN" altLang="en-US" sz="1300"/>
          </a:p>
        </p:txBody>
      </p:sp>
      <p:sp>
        <p:nvSpPr>
          <p:cNvPr id="50" name="矩形 49"/>
          <p:cNvSpPr/>
          <p:nvPr>
            <p:custDataLst>
              <p:tags r:id="rId7"/>
            </p:custDataLst>
          </p:nvPr>
        </p:nvSpPr>
        <p:spPr>
          <a:xfrm>
            <a:off x="6911975" y="4956810"/>
            <a:ext cx="521970" cy="3568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4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489450" y="5022850"/>
            <a:ext cx="2366645" cy="275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r">
              <a:buClrTx/>
              <a:buSzTx/>
              <a:buFontTx/>
            </a:pPr>
            <a:r>
              <a:rPr lang="zh-CN" altLang="en-US" sz="1300">
                <a:solidFill>
                  <a:schemeClr val="tx1"/>
                </a:solidFill>
                <a:sym typeface="+mn-ea"/>
              </a:rPr>
              <a:t>相机个数 / 图像面数：</a:t>
            </a:r>
            <a:endParaRPr lang="zh-CN" altLang="en-US" sz="1300">
              <a:solidFill>
                <a:schemeClr val="tx1"/>
              </a:solidFill>
              <a:sym typeface="+mn-ea"/>
            </a:endParaRPr>
          </a:p>
        </p:txBody>
      </p:sp>
      <p:sp>
        <p:nvSpPr>
          <p:cNvPr id="55" name="矩形 54"/>
          <p:cNvSpPr/>
          <p:nvPr>
            <p:custDataLst>
              <p:tags r:id="rId8"/>
            </p:custDataLst>
          </p:nvPr>
        </p:nvSpPr>
        <p:spPr>
          <a:xfrm>
            <a:off x="8528050" y="4953635"/>
            <a:ext cx="1907540" cy="3568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1#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,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2#,3#,4#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653020" y="5002530"/>
            <a:ext cx="881380" cy="2914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r"/>
            <a:r>
              <a:rPr lang="zh-CN" altLang="en-US" sz="1300"/>
              <a:t>目录名：</a:t>
            </a:r>
            <a:endParaRPr lang="zh-CN" altLang="en-US" sz="1300"/>
          </a:p>
        </p:txBody>
      </p:sp>
      <p:sp>
        <p:nvSpPr>
          <p:cNvPr id="60" name="矩形 59"/>
          <p:cNvSpPr/>
          <p:nvPr>
            <p:custDataLst>
              <p:tags r:id="rId9"/>
            </p:custDataLst>
          </p:nvPr>
        </p:nvSpPr>
        <p:spPr>
          <a:xfrm>
            <a:off x="6902450" y="3368675"/>
            <a:ext cx="3516630" cy="3568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玉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溪（缤果爆），玉溪（创客）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527550" y="3426460"/>
            <a:ext cx="2366645" cy="2914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r"/>
            <a:r>
              <a:rPr lang="zh-CN" altLang="en-US" sz="1300"/>
              <a:t>品规</a:t>
            </a:r>
            <a:r>
              <a:rPr lang="en-US" altLang="zh-CN" sz="1300"/>
              <a:t>/</a:t>
            </a:r>
            <a:r>
              <a:rPr lang="zh-CN" altLang="en-US" sz="1300"/>
              <a:t>牌号目录名：</a:t>
            </a:r>
            <a:endParaRPr lang="zh-CN" altLang="en-US" sz="1300"/>
          </a:p>
        </p:txBody>
      </p:sp>
      <p:sp>
        <p:nvSpPr>
          <p:cNvPr id="63" name="文本框 62"/>
          <p:cNvSpPr txBox="1"/>
          <p:nvPr/>
        </p:nvSpPr>
        <p:spPr>
          <a:xfrm>
            <a:off x="9476740" y="5598160"/>
            <a:ext cx="330200" cy="2914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300">
                <a:sym typeface="Wingdings 2" panose="05020102010507070707" charset="0"/>
              </a:rPr>
              <a:t></a:t>
            </a:r>
            <a:endParaRPr lang="zh-CN" altLang="en-US" sz="1300">
              <a:sym typeface="Wingdings 2" panose="05020102010507070707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796780" y="5627370"/>
            <a:ext cx="1292860" cy="2914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l"/>
            <a:r>
              <a:rPr lang="zh-CN" altLang="en-US" sz="1300"/>
              <a:t>班次无目录</a:t>
            </a:r>
            <a:endParaRPr lang="zh-CN" altLang="en-US" sz="1300"/>
          </a:p>
        </p:txBody>
      </p:sp>
      <p:sp>
        <p:nvSpPr>
          <p:cNvPr id="69" name="文本框 68"/>
          <p:cNvSpPr txBox="1"/>
          <p:nvPr/>
        </p:nvSpPr>
        <p:spPr>
          <a:xfrm>
            <a:off x="7615555" y="5636260"/>
            <a:ext cx="1847850" cy="2914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l"/>
            <a:r>
              <a:rPr lang="zh-CN" altLang="en-US" sz="1300"/>
              <a:t>年月日分三级目录</a:t>
            </a:r>
            <a:endParaRPr lang="zh-CN" altLang="en-US" sz="1300"/>
          </a:p>
        </p:txBody>
      </p:sp>
      <p:sp>
        <p:nvSpPr>
          <p:cNvPr id="70" name="文本框 69"/>
          <p:cNvSpPr txBox="1"/>
          <p:nvPr/>
        </p:nvSpPr>
        <p:spPr>
          <a:xfrm>
            <a:off x="7279640" y="5598160"/>
            <a:ext cx="330200" cy="2914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300">
                <a:sym typeface="Wingdings 2" panose="05020102010507070707" charset="0"/>
              </a:rPr>
              <a:t></a:t>
            </a:r>
            <a:endParaRPr lang="zh-CN" altLang="en-US" sz="1300">
              <a:sym typeface="Wingdings 2" panose="05020102010507070707" charset="0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10564495" y="2353310"/>
            <a:ext cx="629920" cy="298450"/>
          </a:xfrm>
          <a:prstGeom prst="roundRect">
            <a:avLst/>
          </a:prstGeom>
          <a:gradFill>
            <a:gsLst>
              <a:gs pos="51300">
                <a:srgbClr val="32B0EA"/>
              </a:gs>
              <a:gs pos="0">
                <a:srgbClr val="005F9F"/>
              </a:gs>
              <a:gs pos="100000">
                <a:srgbClr val="ADDCE1"/>
              </a:gs>
            </a:gsLst>
            <a:lin ang="5400000" scaled="1"/>
          </a:gra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测试</a:t>
            </a:r>
            <a:endParaRPr lang="zh-CN" sz="1200"/>
          </a:p>
        </p:txBody>
      </p:sp>
      <p:sp>
        <p:nvSpPr>
          <p:cNvPr id="76" name="圆角矩形 75"/>
          <p:cNvSpPr/>
          <p:nvPr/>
        </p:nvSpPr>
        <p:spPr>
          <a:xfrm>
            <a:off x="10564495" y="2889250"/>
            <a:ext cx="629920" cy="298450"/>
          </a:xfrm>
          <a:prstGeom prst="roundRect">
            <a:avLst/>
          </a:prstGeom>
          <a:gradFill>
            <a:gsLst>
              <a:gs pos="51300">
                <a:srgbClr val="32B0EA"/>
              </a:gs>
              <a:gs pos="0">
                <a:srgbClr val="005F9F"/>
              </a:gs>
              <a:gs pos="100000">
                <a:srgbClr val="ADDCE1"/>
              </a:gs>
            </a:gsLst>
            <a:lin ang="5400000" scaled="1"/>
          </a:gra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测试</a:t>
            </a:r>
            <a:endParaRPr lang="zh-CN" sz="1200"/>
          </a:p>
        </p:txBody>
      </p:sp>
      <p:sp>
        <p:nvSpPr>
          <p:cNvPr id="77" name="圆角矩形 76"/>
          <p:cNvSpPr/>
          <p:nvPr/>
        </p:nvSpPr>
        <p:spPr>
          <a:xfrm>
            <a:off x="10564495" y="3406775"/>
            <a:ext cx="629920" cy="298450"/>
          </a:xfrm>
          <a:prstGeom prst="roundRect">
            <a:avLst/>
          </a:prstGeom>
          <a:gradFill>
            <a:gsLst>
              <a:gs pos="51300">
                <a:srgbClr val="32B0EA"/>
              </a:gs>
              <a:gs pos="0">
                <a:srgbClr val="005F9F"/>
              </a:gs>
              <a:gs pos="100000">
                <a:srgbClr val="ADDCE1"/>
              </a:gs>
            </a:gsLst>
            <a:lin ang="5400000" scaled="1"/>
          </a:gra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测试</a:t>
            </a:r>
            <a:endParaRPr lang="zh-CN" sz="1200"/>
          </a:p>
        </p:txBody>
      </p:sp>
      <p:sp>
        <p:nvSpPr>
          <p:cNvPr id="78" name="圆角矩形 77"/>
          <p:cNvSpPr/>
          <p:nvPr/>
        </p:nvSpPr>
        <p:spPr>
          <a:xfrm>
            <a:off x="10564495" y="3924300"/>
            <a:ext cx="629920" cy="298450"/>
          </a:xfrm>
          <a:prstGeom prst="roundRect">
            <a:avLst/>
          </a:prstGeom>
          <a:gradFill>
            <a:gsLst>
              <a:gs pos="51300">
                <a:srgbClr val="32B0EA"/>
              </a:gs>
              <a:gs pos="0">
                <a:srgbClr val="005F9F"/>
              </a:gs>
              <a:gs pos="100000">
                <a:srgbClr val="ADDCE1"/>
              </a:gs>
            </a:gsLst>
            <a:lin ang="5400000" scaled="1"/>
          </a:gra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测试</a:t>
            </a:r>
            <a:endParaRPr lang="zh-CN" sz="1200"/>
          </a:p>
        </p:txBody>
      </p:sp>
      <p:sp>
        <p:nvSpPr>
          <p:cNvPr id="79" name="圆角矩形 78"/>
          <p:cNvSpPr/>
          <p:nvPr/>
        </p:nvSpPr>
        <p:spPr>
          <a:xfrm>
            <a:off x="10564495" y="4472305"/>
            <a:ext cx="629920" cy="29845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>
                <a:solidFill>
                  <a:schemeClr val="bg1">
                    <a:lumMod val="85000"/>
                  </a:schemeClr>
                </a:solidFill>
              </a:rPr>
              <a:t>测试</a:t>
            </a:r>
            <a:endParaRPr lang="zh-CN" sz="12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10564495" y="4994910"/>
            <a:ext cx="629920" cy="298450"/>
          </a:xfrm>
          <a:prstGeom prst="roundRect">
            <a:avLst/>
          </a:prstGeom>
          <a:gradFill>
            <a:gsLst>
              <a:gs pos="51300">
                <a:srgbClr val="32B0EA"/>
              </a:gs>
              <a:gs pos="0">
                <a:srgbClr val="005F9F"/>
              </a:gs>
              <a:gs pos="100000">
                <a:srgbClr val="ADDCE1"/>
              </a:gs>
            </a:gsLst>
            <a:lin ang="5400000" scaled="1"/>
          </a:gra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测试</a:t>
            </a:r>
            <a:endParaRPr lang="zh-CN" sz="1200"/>
          </a:p>
        </p:txBody>
      </p:sp>
      <p:graphicFrame>
        <p:nvGraphicFramePr>
          <p:cNvPr id="26" name="表格 25"/>
          <p:cNvGraphicFramePr/>
          <p:nvPr>
            <p:custDataLst>
              <p:tags r:id="rId10"/>
            </p:custDataLst>
          </p:nvPr>
        </p:nvGraphicFramePr>
        <p:xfrm>
          <a:off x="3308985" y="2150745"/>
          <a:ext cx="1018540" cy="41319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8540"/>
              </a:tblGrid>
              <a:tr h="3632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选择产线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89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A01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</a:rPr>
                        <a:t>A02</a:t>
                      </a:r>
                      <a:endParaRPr lang="en-US" altLang="zh-CN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8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A03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8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A04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8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A05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9959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9" name="直接连接符 28"/>
          <p:cNvCxnSpPr/>
          <p:nvPr/>
        </p:nvCxnSpPr>
        <p:spPr>
          <a:xfrm>
            <a:off x="4450080" y="2134235"/>
            <a:ext cx="5080" cy="413448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同侧圆角矩形 58"/>
          <p:cNvSpPr/>
          <p:nvPr>
            <p:custDataLst>
              <p:tags r:id="rId11"/>
            </p:custDataLst>
          </p:nvPr>
        </p:nvSpPr>
        <p:spPr>
          <a:xfrm>
            <a:off x="4749165" y="111760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Calibri" panose="020F0502020204030204" charset="0"/>
              </a:rPr>
              <a:t>③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sz="1400">
                <a:solidFill>
                  <a:schemeClr val="tx1"/>
                </a:solidFill>
              </a:rPr>
              <a:t>模型训练与版本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62" name="同侧圆角矩形 61"/>
          <p:cNvSpPr/>
          <p:nvPr/>
        </p:nvSpPr>
        <p:spPr>
          <a:xfrm>
            <a:off x="6861810" y="111760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④</a:t>
            </a:r>
            <a:r>
              <a:rPr lang="en-US" alt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sz="1400">
                <a:solidFill>
                  <a:schemeClr val="tx1"/>
                </a:solidFill>
              </a:rPr>
              <a:t>结果统计与展示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65" name="同侧圆角矩形 64"/>
          <p:cNvSpPr/>
          <p:nvPr>
            <p:custDataLst>
              <p:tags r:id="rId12"/>
            </p:custDataLst>
          </p:nvPr>
        </p:nvSpPr>
        <p:spPr>
          <a:xfrm>
            <a:off x="518160" y="1117600"/>
            <a:ext cx="2033905" cy="37465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  <a:latin typeface="Calibri" panose="020F0502020204030204" charset="0"/>
              </a:rPr>
              <a:t>①</a:t>
            </a:r>
            <a:r>
              <a:rPr lang="en-US" altLang="zh-CN" sz="1400" b="1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altLang="en-US" sz="1400" b="1">
                <a:solidFill>
                  <a:schemeClr val="tx1"/>
                </a:solidFill>
              </a:rPr>
              <a:t>图像集成与采集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66" name="同侧圆角矩形 65"/>
          <p:cNvSpPr/>
          <p:nvPr>
            <p:custDataLst>
              <p:tags r:id="rId13"/>
            </p:custDataLst>
          </p:nvPr>
        </p:nvSpPr>
        <p:spPr>
          <a:xfrm>
            <a:off x="2625090" y="111760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②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权限分类与标注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497705" y="513080"/>
            <a:ext cx="61258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olidFill>
                  <a:srgbClr val="FF0000"/>
                </a:solidFill>
                <a:sym typeface="+mn-ea"/>
              </a:rPr>
              <a:t>烟支外观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五轮成像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小包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CCD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散包检测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条外观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更多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...</a:t>
            </a:r>
            <a:endParaRPr lang="en-US" altLang="zh-CN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 2" panose="05020102010507070707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 rot="0">
            <a:off x="3134360" y="512445"/>
            <a:ext cx="1132840" cy="306705"/>
            <a:chOff x="15165" y="681"/>
            <a:chExt cx="1809" cy="483"/>
          </a:xfrm>
        </p:grpSpPr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5165" y="755"/>
              <a:ext cx="353" cy="329"/>
            </a:xfrm>
            <a:prstGeom prst="rect">
              <a:avLst/>
            </a:prstGeom>
          </p:spPr>
        </p:pic>
        <p:sp>
          <p:nvSpPr>
            <p:cNvPr id="74" name="文本框 73"/>
            <p:cNvSpPr txBox="1"/>
            <p:nvPr/>
          </p:nvSpPr>
          <p:spPr>
            <a:xfrm>
              <a:off x="15413" y="681"/>
              <a:ext cx="1561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400">
                  <a:sym typeface="Wingdings 2" panose="05020102010507070707" charset="0"/>
                </a:rPr>
                <a:t>基础设置</a:t>
              </a:r>
              <a:endParaRPr lang="zh-CN" altLang="en-US" sz="1400">
                <a:sym typeface="Wingdings 2" panose="05020102010507070707" charset="0"/>
              </a:endParaRPr>
            </a:p>
          </p:txBody>
        </p:sp>
      </p:grpSp>
      <p:sp>
        <p:nvSpPr>
          <p:cNvPr id="81" name="椭圆 80"/>
          <p:cNvSpPr/>
          <p:nvPr/>
        </p:nvSpPr>
        <p:spPr>
          <a:xfrm>
            <a:off x="11472545" y="497840"/>
            <a:ext cx="347345" cy="337185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10600055" y="528320"/>
            <a:ext cx="8718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 i="1">
                <a:sym typeface="Wingdings 2" panose="05020102010507070707" charset="0"/>
              </a:rPr>
              <a:t>管理员</a:t>
            </a:r>
            <a:endParaRPr lang="zh-CN" altLang="en-US" sz="1200" i="1">
              <a:sym typeface="Wingdings 2" panose="05020102010507070707" charset="0"/>
            </a:endParaRPr>
          </a:p>
        </p:txBody>
      </p:sp>
      <p:grpSp>
        <p:nvGrpSpPr>
          <p:cNvPr id="86" name="组合 85"/>
          <p:cNvGrpSpPr/>
          <p:nvPr>
            <p:custDataLst>
              <p:tags r:id="rId15"/>
            </p:custDataLst>
          </p:nvPr>
        </p:nvGrpSpPr>
        <p:grpSpPr>
          <a:xfrm rot="0">
            <a:off x="9607550" y="1089660"/>
            <a:ext cx="2117725" cy="354330"/>
            <a:chOff x="6870" y="3059"/>
            <a:chExt cx="3335" cy="412"/>
          </a:xfrm>
          <a:solidFill>
            <a:schemeClr val="bg1">
              <a:lumMod val="95000"/>
            </a:schemeClr>
          </a:solidFill>
        </p:grpSpPr>
        <p:sp>
          <p:nvSpPr>
            <p:cNvPr id="87" name="矩形 86"/>
            <p:cNvSpPr/>
            <p:nvPr>
              <p:custDataLst>
                <p:tags r:id="rId16"/>
              </p:custDataLst>
            </p:nvPr>
          </p:nvSpPr>
          <p:spPr>
            <a:xfrm>
              <a:off x="6870" y="3059"/>
              <a:ext cx="1617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选择车间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矩形 87"/>
            <p:cNvSpPr/>
            <p:nvPr>
              <p:custDataLst>
                <p:tags r:id="rId17"/>
              </p:custDataLst>
            </p:nvPr>
          </p:nvSpPr>
          <p:spPr>
            <a:xfrm>
              <a:off x="8575" y="3059"/>
              <a:ext cx="1630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选择区域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97840" y="462280"/>
            <a:ext cx="2395220" cy="368300"/>
            <a:chOff x="616" y="536"/>
            <a:chExt cx="3772" cy="580"/>
          </a:xfrm>
        </p:grpSpPr>
        <p:sp>
          <p:nvSpPr>
            <p:cNvPr id="122" name="文本框 121"/>
            <p:cNvSpPr txBox="1"/>
            <p:nvPr/>
          </p:nvSpPr>
          <p:spPr>
            <a:xfrm>
              <a:off x="1068" y="536"/>
              <a:ext cx="3321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>
                  <a:solidFill>
                    <a:srgbClr val="003B79"/>
                  </a:solidFill>
                  <a:sym typeface="Wingdings 2" panose="05020102010507070707" charset="0"/>
                </a:rPr>
                <a:t>缺陷图片分析平台</a:t>
              </a:r>
              <a:endParaRPr lang="zh-CN" altLang="en-US" b="1">
                <a:solidFill>
                  <a:srgbClr val="003B79"/>
                </a:solidFill>
                <a:sym typeface="Wingdings 2" panose="05020102010507070707" charset="0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16" y="619"/>
              <a:ext cx="435" cy="399"/>
            </a:xfrm>
            <a:prstGeom prst="rect">
              <a:avLst/>
            </a:prstGeom>
          </p:spPr>
        </p:pic>
      </p:grpSp>
    </p:spTree>
    <p:custDataLst>
      <p:tags r:id="rId1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" name="矩形 106"/>
          <p:cNvSpPr/>
          <p:nvPr/>
        </p:nvSpPr>
        <p:spPr>
          <a:xfrm>
            <a:off x="515620" y="1486535"/>
            <a:ext cx="11295380" cy="5166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3155315" y="2046605"/>
            <a:ext cx="8369300" cy="43084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093720" y="1640840"/>
            <a:ext cx="436308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buFont typeface="Wingdings" panose="05000000000000000000" charset="0"/>
              <a:buChar char="n"/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en-US" altLang="zh-CN" sz="1400">
                <a:solidFill>
                  <a:srgbClr val="FF0000"/>
                </a:solidFill>
                <a:sym typeface="Wingdings 2" panose="05020102010507070707" charset="0"/>
              </a:rPr>
              <a:t>A02 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sym typeface="Wingdings 2" panose="05020102010507070707" charset="0"/>
              </a:rPr>
              <a:t>机台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zh-CN" altLang="en-US" sz="1400">
                <a:solidFill>
                  <a:srgbClr val="FF0000"/>
                </a:solidFill>
                <a:sym typeface="Wingdings 2" panose="05020102010507070707" charset="0"/>
              </a:rPr>
              <a:t>烟支外观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sym typeface="Wingdings 2" panose="05020102010507070707" charset="0"/>
              </a:rPr>
              <a:t>当前共有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en-US" altLang="zh-CN" sz="1400" b="1">
                <a:solidFill>
                  <a:srgbClr val="FF0000"/>
                </a:solidFill>
                <a:sym typeface="Wingdings 2" panose="05020102010507070707" charset="0"/>
              </a:rPr>
              <a:t>6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sym typeface="Wingdings 2" panose="05020102010507070707" charset="0"/>
              </a:rPr>
              <a:t>个相机</a:t>
            </a:r>
            <a:endParaRPr lang="zh-CN" sz="1400">
              <a:solidFill>
                <a:schemeClr val="bg1">
                  <a:lumMod val="50000"/>
                </a:schemeClr>
              </a:solidFill>
              <a:sym typeface="Wingdings 2" panose="05020102010507070707" charset="0"/>
            </a:endParaRPr>
          </a:p>
        </p:txBody>
      </p:sp>
      <p:graphicFrame>
        <p:nvGraphicFramePr>
          <p:cNvPr id="26" name="表格 25"/>
          <p:cNvGraphicFramePr/>
          <p:nvPr>
            <p:custDataLst>
              <p:tags r:id="rId1"/>
            </p:custDataLst>
          </p:nvPr>
        </p:nvGraphicFramePr>
        <p:xfrm>
          <a:off x="3308985" y="2150745"/>
          <a:ext cx="1018540" cy="41319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8540"/>
              </a:tblGrid>
              <a:tr h="3632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选择产线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89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A01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</a:rPr>
                        <a:t>A02</a:t>
                      </a:r>
                      <a:endParaRPr lang="en-US" altLang="zh-CN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8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A03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8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A04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8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A05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9959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9" name="直接连接符 28"/>
          <p:cNvCxnSpPr/>
          <p:nvPr/>
        </p:nvCxnSpPr>
        <p:spPr>
          <a:xfrm>
            <a:off x="4450080" y="2134235"/>
            <a:ext cx="5080" cy="413448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677410" y="2322830"/>
            <a:ext cx="2006600" cy="1779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50000"/>
              </a:lnSpc>
            </a:pPr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1#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相机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b="1">
                <a:solidFill>
                  <a:schemeClr val="tx1"/>
                </a:solidFill>
              </a:rPr>
              <a:t>26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995160" y="2322830"/>
            <a:ext cx="2006600" cy="1779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sym typeface="+mn-ea"/>
              </a:rPr>
              <a:t>2#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sym typeface="+mn-ea"/>
              </a:rPr>
              <a:t>相机</a:t>
            </a:r>
            <a:endParaRPr lang="en-US" altLang="zh-CN" sz="1600">
              <a:solidFill>
                <a:schemeClr val="bg1">
                  <a:lumMod val="50000"/>
                </a:schemeClr>
              </a:solidFill>
              <a:sym typeface="+mn-ea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sym typeface="+mn-ea"/>
              </a:rPr>
              <a:t>6</a:t>
            </a:r>
            <a:endParaRPr lang="en-US" altLang="zh-CN" sz="160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312910" y="2322830"/>
            <a:ext cx="2006600" cy="1779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sym typeface="+mn-ea"/>
              </a:rPr>
              <a:t>3#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sym typeface="+mn-ea"/>
              </a:rPr>
              <a:t>相机</a:t>
            </a:r>
            <a:endParaRPr lang="en-US" altLang="zh-CN" sz="1600">
              <a:solidFill>
                <a:schemeClr val="bg1">
                  <a:lumMod val="50000"/>
                </a:schemeClr>
              </a:solidFill>
              <a:sym typeface="+mn-ea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sym typeface="+mn-ea"/>
              </a:rPr>
              <a:t>16</a:t>
            </a:r>
            <a:endParaRPr lang="en-US" altLang="zh-CN" sz="160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677410" y="4281170"/>
            <a:ext cx="2006600" cy="1779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sym typeface="+mn-ea"/>
              </a:rPr>
              <a:t>4#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sym typeface="+mn-ea"/>
              </a:rPr>
              <a:t>相机</a:t>
            </a:r>
            <a:endParaRPr lang="en-US" altLang="zh-CN" sz="1600">
              <a:solidFill>
                <a:schemeClr val="bg1">
                  <a:lumMod val="50000"/>
                </a:schemeClr>
              </a:solidFill>
              <a:sym typeface="+mn-ea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sym typeface="+mn-ea"/>
              </a:rPr>
              <a:t>21</a:t>
            </a:r>
            <a:endParaRPr lang="en-US" altLang="zh-CN" sz="160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995160" y="4281805"/>
            <a:ext cx="2006600" cy="1779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sym typeface="+mn-ea"/>
              </a:rPr>
              <a:t>5#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sym typeface="+mn-ea"/>
              </a:rPr>
              <a:t>相机</a:t>
            </a:r>
            <a:endParaRPr lang="en-US" altLang="zh-CN" sz="1600">
              <a:solidFill>
                <a:schemeClr val="bg1">
                  <a:lumMod val="50000"/>
                </a:schemeClr>
              </a:solidFill>
              <a:sym typeface="+mn-ea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sym typeface="+mn-ea"/>
              </a:rPr>
              <a:t>11</a:t>
            </a:r>
            <a:endParaRPr lang="en-US" altLang="zh-CN" sz="160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312910" y="4282440"/>
            <a:ext cx="2006600" cy="1779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sym typeface="+mn-ea"/>
              </a:rPr>
              <a:t>6#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sym typeface="+mn-ea"/>
              </a:rPr>
              <a:t>相机</a:t>
            </a:r>
            <a:endParaRPr lang="en-US" altLang="zh-CN" sz="1600">
              <a:solidFill>
                <a:schemeClr val="bg1">
                  <a:lumMod val="50000"/>
                </a:schemeClr>
              </a:solidFill>
              <a:sym typeface="+mn-ea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sym typeface="+mn-ea"/>
              </a:rPr>
              <a:t>9</a:t>
            </a:r>
            <a:endParaRPr lang="en-US" altLang="zh-CN" sz="160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511030" y="1681480"/>
            <a:ext cx="198501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400">
                <a:solidFill>
                  <a:srgbClr val="FF0000"/>
                </a:solidFill>
                <a:sym typeface="Wingdings 2" panose="05020102010507070707" charset="0"/>
              </a:rPr>
              <a:t>查看历史图片</a:t>
            </a:r>
            <a:r>
              <a:rPr lang="en-US" altLang="zh-CN" sz="1400">
                <a:solidFill>
                  <a:srgbClr val="FF0000"/>
                </a:solidFill>
                <a:sym typeface="Wingdings 2" panose="05020102010507070707" charset="0"/>
              </a:rPr>
              <a:t> &gt;&gt;</a:t>
            </a:r>
            <a:endParaRPr lang="en-US" altLang="zh-CN" sz="1400">
              <a:solidFill>
                <a:srgbClr val="FF0000"/>
              </a:solidFill>
              <a:sym typeface="Wingdings 2" panose="05020102010507070707" charset="0"/>
            </a:endParaRPr>
          </a:p>
        </p:txBody>
      </p:sp>
      <p:sp>
        <p:nvSpPr>
          <p:cNvPr id="59" name="同侧圆角矩形 58"/>
          <p:cNvSpPr/>
          <p:nvPr>
            <p:custDataLst>
              <p:tags r:id="rId2"/>
            </p:custDataLst>
          </p:nvPr>
        </p:nvSpPr>
        <p:spPr>
          <a:xfrm>
            <a:off x="4790440" y="1117600"/>
            <a:ext cx="2033905" cy="374650"/>
          </a:xfrm>
          <a:prstGeom prst="round2SameRect">
            <a:avLst/>
          </a:prstGeom>
          <a:noFill/>
          <a:ln>
            <a:solidFill>
              <a:srgbClr val="003B7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Calibri" panose="020F0502020204030204" charset="0"/>
              </a:rPr>
              <a:t>③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sz="1400">
                <a:solidFill>
                  <a:schemeClr val="tx1"/>
                </a:solidFill>
              </a:rPr>
              <a:t>模型训练与版本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62" name="同侧圆角矩形 61"/>
          <p:cNvSpPr/>
          <p:nvPr/>
        </p:nvSpPr>
        <p:spPr>
          <a:xfrm>
            <a:off x="6903085" y="1117600"/>
            <a:ext cx="2033905" cy="374650"/>
          </a:xfrm>
          <a:prstGeom prst="round2SameRect">
            <a:avLst/>
          </a:prstGeom>
          <a:noFill/>
          <a:ln>
            <a:solidFill>
              <a:srgbClr val="003B7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④</a:t>
            </a:r>
            <a:r>
              <a:rPr lang="en-US" alt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sz="1400">
                <a:solidFill>
                  <a:schemeClr val="tx1"/>
                </a:solidFill>
              </a:rPr>
              <a:t>结果统计与展示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65" name="同侧圆角矩形 64"/>
          <p:cNvSpPr/>
          <p:nvPr>
            <p:custDataLst>
              <p:tags r:id="rId3"/>
            </p:custDataLst>
          </p:nvPr>
        </p:nvSpPr>
        <p:spPr>
          <a:xfrm>
            <a:off x="559435" y="1117600"/>
            <a:ext cx="2033905" cy="374650"/>
          </a:xfrm>
          <a:prstGeom prst="round2SameRect">
            <a:avLst/>
          </a:prstGeom>
          <a:solidFill>
            <a:srgbClr val="003B7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bg1"/>
                </a:solidFill>
                <a:latin typeface="Calibri" panose="020F0502020204030204" charset="0"/>
              </a:rPr>
              <a:t>①</a:t>
            </a:r>
            <a:r>
              <a:rPr lang="en-US" altLang="zh-CN" sz="1400">
                <a:solidFill>
                  <a:schemeClr val="bg1"/>
                </a:solidFill>
                <a:latin typeface="Calibri" panose="020F0502020204030204" charset="0"/>
              </a:rPr>
              <a:t> </a:t>
            </a:r>
            <a:r>
              <a:rPr lang="zh-CN" altLang="en-US" sz="1400">
                <a:solidFill>
                  <a:schemeClr val="bg1"/>
                </a:solidFill>
              </a:rPr>
              <a:t>图像集成与采集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66" name="同侧圆角矩形 65"/>
          <p:cNvSpPr/>
          <p:nvPr>
            <p:custDataLst>
              <p:tags r:id="rId4"/>
            </p:custDataLst>
          </p:nvPr>
        </p:nvSpPr>
        <p:spPr>
          <a:xfrm>
            <a:off x="2666365" y="1117600"/>
            <a:ext cx="2033905" cy="374650"/>
          </a:xfrm>
          <a:prstGeom prst="round2SameRect">
            <a:avLst/>
          </a:prstGeom>
          <a:noFill/>
          <a:ln>
            <a:solidFill>
              <a:srgbClr val="003B7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②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权限分类与标注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489450" y="496570"/>
            <a:ext cx="61258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olidFill>
                  <a:srgbClr val="FF0000"/>
                </a:solidFill>
                <a:sym typeface="+mn-ea"/>
              </a:rPr>
              <a:t>烟支外观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五轮成像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小包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CCD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散包检测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条外观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更多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...</a:t>
            </a:r>
            <a:endParaRPr lang="en-US" altLang="zh-CN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 2" panose="05020102010507070707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 rot="0">
            <a:off x="3126105" y="495935"/>
            <a:ext cx="1132840" cy="306705"/>
            <a:chOff x="15165" y="681"/>
            <a:chExt cx="1809" cy="483"/>
          </a:xfrm>
        </p:grpSpPr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165" y="755"/>
              <a:ext cx="353" cy="329"/>
            </a:xfrm>
            <a:prstGeom prst="rect">
              <a:avLst/>
            </a:prstGeom>
          </p:spPr>
        </p:pic>
        <p:sp>
          <p:nvSpPr>
            <p:cNvPr id="74" name="文本框 73"/>
            <p:cNvSpPr txBox="1"/>
            <p:nvPr/>
          </p:nvSpPr>
          <p:spPr>
            <a:xfrm>
              <a:off x="15413" y="681"/>
              <a:ext cx="1561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400">
                  <a:sym typeface="Wingdings 2" panose="05020102010507070707" charset="0"/>
                </a:rPr>
                <a:t>基础设置</a:t>
              </a:r>
              <a:endParaRPr lang="zh-CN" altLang="en-US" sz="1400">
                <a:sym typeface="Wingdings 2" panose="05020102010507070707" charset="0"/>
              </a:endParaRPr>
            </a:p>
          </p:txBody>
        </p:sp>
      </p:grpSp>
      <p:sp>
        <p:nvSpPr>
          <p:cNvPr id="81" name="椭圆 80"/>
          <p:cNvSpPr/>
          <p:nvPr/>
        </p:nvSpPr>
        <p:spPr>
          <a:xfrm>
            <a:off x="11464290" y="481330"/>
            <a:ext cx="347345" cy="337185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10591800" y="511810"/>
            <a:ext cx="8718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 i="1">
                <a:sym typeface="Wingdings 2" panose="05020102010507070707" charset="0"/>
              </a:rPr>
              <a:t>管理员</a:t>
            </a:r>
            <a:endParaRPr lang="zh-CN" altLang="en-US" sz="1200" i="1">
              <a:sym typeface="Wingdings 2" panose="05020102010507070707" charset="0"/>
            </a:endParaRPr>
          </a:p>
        </p:txBody>
      </p:sp>
      <p:grpSp>
        <p:nvGrpSpPr>
          <p:cNvPr id="86" name="组合 85"/>
          <p:cNvGrpSpPr/>
          <p:nvPr>
            <p:custDataLst>
              <p:tags r:id="rId6"/>
            </p:custDataLst>
          </p:nvPr>
        </p:nvGrpSpPr>
        <p:grpSpPr>
          <a:xfrm rot="0">
            <a:off x="9648825" y="1127760"/>
            <a:ext cx="2117725" cy="354330"/>
            <a:chOff x="6870" y="3059"/>
            <a:chExt cx="3335" cy="412"/>
          </a:xfrm>
          <a:solidFill>
            <a:schemeClr val="bg1">
              <a:lumMod val="95000"/>
            </a:schemeClr>
          </a:solidFill>
        </p:grpSpPr>
        <p:sp>
          <p:nvSpPr>
            <p:cNvPr id="87" name="矩形 86"/>
            <p:cNvSpPr/>
            <p:nvPr>
              <p:custDataLst>
                <p:tags r:id="rId7"/>
              </p:custDataLst>
            </p:nvPr>
          </p:nvSpPr>
          <p:spPr>
            <a:xfrm>
              <a:off x="6870" y="3059"/>
              <a:ext cx="1617" cy="41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3B7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选择车间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矩形 87"/>
            <p:cNvSpPr/>
            <p:nvPr>
              <p:custDataLst>
                <p:tags r:id="rId8"/>
              </p:custDataLst>
            </p:nvPr>
          </p:nvSpPr>
          <p:spPr>
            <a:xfrm>
              <a:off x="8575" y="3059"/>
              <a:ext cx="1630" cy="41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3B7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选择区域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51815" y="480695"/>
            <a:ext cx="2395220" cy="368300"/>
            <a:chOff x="616" y="536"/>
            <a:chExt cx="3772" cy="580"/>
          </a:xfrm>
        </p:grpSpPr>
        <p:sp>
          <p:nvSpPr>
            <p:cNvPr id="122" name="文本框 121"/>
            <p:cNvSpPr txBox="1"/>
            <p:nvPr/>
          </p:nvSpPr>
          <p:spPr>
            <a:xfrm>
              <a:off x="1068" y="536"/>
              <a:ext cx="3321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>
                  <a:solidFill>
                    <a:srgbClr val="003B79"/>
                  </a:solidFill>
                  <a:sym typeface="Wingdings 2" panose="05020102010507070707" charset="0"/>
                </a:rPr>
                <a:t>缺陷图片分析平台</a:t>
              </a:r>
              <a:endParaRPr lang="zh-CN" altLang="en-US" b="1">
                <a:solidFill>
                  <a:srgbClr val="003B79"/>
                </a:solidFill>
                <a:sym typeface="Wingdings 2" panose="05020102010507070707" charset="0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16" y="619"/>
              <a:ext cx="435" cy="399"/>
            </a:xfrm>
            <a:prstGeom prst="rect">
              <a:avLst/>
            </a:prstGeom>
          </p:spPr>
        </p:pic>
      </p:grpSp>
      <p:graphicFrame>
        <p:nvGraphicFramePr>
          <p:cNvPr id="2" name="表格 1"/>
          <p:cNvGraphicFramePr/>
          <p:nvPr>
            <p:custDataLst>
              <p:tags r:id="rId10"/>
            </p:custDataLst>
          </p:nvPr>
        </p:nvGraphicFramePr>
        <p:xfrm>
          <a:off x="638810" y="1640205"/>
          <a:ext cx="2221865" cy="4715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1865"/>
              </a:tblGrid>
              <a:tr h="4997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采集模式</a:t>
                      </a: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997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服务配置</a:t>
                      </a: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003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>
                          <a:sym typeface="Wingdings 2" panose="05020102010507070707" charset="0"/>
                        </a:rPr>
                        <a:t>终端配置</a:t>
                      </a:r>
                      <a:endParaRPr lang="zh-CN" altLang="en-US" sz="1400"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997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>
                          <a:solidFill>
                            <a:srgbClr val="C00000"/>
                          </a:solidFill>
                          <a:sym typeface="Wingdings 2" panose="05020102010507070707" charset="0"/>
                        </a:rPr>
                        <a:t>采集监控</a:t>
                      </a:r>
                      <a:endParaRPr lang="zh-CN" altLang="en-US" sz="1400">
                        <a:solidFill>
                          <a:srgbClr val="C00000"/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003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历史采集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010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sym typeface="Wingdings 2" panose="05020102010507070707" charset="0"/>
                        </a:rPr>
                        <a:t>图片查询</a:t>
                      </a:r>
                      <a:endParaRPr lang="zh-CN" altLang="en-US" sz="1400">
                        <a:solidFill>
                          <a:schemeClr val="tx1"/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7145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custDataLst>
      <p:tags r:id="rId1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" name="矩形 106"/>
          <p:cNvSpPr/>
          <p:nvPr/>
        </p:nvSpPr>
        <p:spPr>
          <a:xfrm>
            <a:off x="515620" y="1486535"/>
            <a:ext cx="11207750" cy="5166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3155315" y="2046605"/>
            <a:ext cx="8369300" cy="43084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093720" y="1640840"/>
            <a:ext cx="436308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buFont typeface="Wingdings" panose="05000000000000000000" charset="0"/>
              <a:buChar char="n"/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en-US" altLang="zh-CN" sz="1400">
                <a:solidFill>
                  <a:srgbClr val="FF0000"/>
                </a:solidFill>
                <a:sym typeface="Wingdings 2" panose="05020102010507070707" charset="0"/>
              </a:rPr>
              <a:t>A02 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sym typeface="Wingdings 2" panose="05020102010507070707" charset="0"/>
              </a:rPr>
              <a:t>机台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zh-CN" altLang="en-US" sz="1400">
                <a:solidFill>
                  <a:srgbClr val="FF0000"/>
                </a:solidFill>
                <a:sym typeface="Wingdings 2" panose="05020102010507070707" charset="0"/>
              </a:rPr>
              <a:t>烟支外观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sym typeface="Wingdings 2" panose="05020102010507070707" charset="0"/>
              </a:rPr>
              <a:t>当前共有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en-US" altLang="zh-CN" sz="1400" b="1">
                <a:solidFill>
                  <a:srgbClr val="FF0000"/>
                </a:solidFill>
                <a:sym typeface="Wingdings 2" panose="05020102010507070707" charset="0"/>
              </a:rPr>
              <a:t>6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sym typeface="Wingdings 2" panose="05020102010507070707" charset="0"/>
              </a:rPr>
              <a:t>个相机</a:t>
            </a:r>
            <a:endParaRPr lang="zh-CN" sz="1400">
              <a:solidFill>
                <a:schemeClr val="bg1">
                  <a:lumMod val="50000"/>
                </a:schemeClr>
              </a:solidFill>
              <a:sym typeface="Wingdings 2" panose="05020102010507070707" charset="0"/>
            </a:endParaRPr>
          </a:p>
        </p:txBody>
      </p:sp>
      <p:graphicFrame>
        <p:nvGraphicFramePr>
          <p:cNvPr id="26" name="表格 25"/>
          <p:cNvGraphicFramePr/>
          <p:nvPr>
            <p:custDataLst>
              <p:tags r:id="rId1"/>
            </p:custDataLst>
          </p:nvPr>
        </p:nvGraphicFramePr>
        <p:xfrm>
          <a:off x="3308985" y="2150745"/>
          <a:ext cx="1018540" cy="41319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8540"/>
              </a:tblGrid>
              <a:tr h="3632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选择产线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89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A01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</a:rPr>
                        <a:t>A02</a:t>
                      </a:r>
                      <a:endParaRPr lang="en-US" altLang="zh-CN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8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A03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8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A04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8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A05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9959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4410710" y="2228215"/>
          <a:ext cx="6897370" cy="3901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2375"/>
                <a:gridCol w="1123315"/>
                <a:gridCol w="1814830"/>
                <a:gridCol w="1597025"/>
                <a:gridCol w="1139825"/>
              </a:tblGrid>
              <a:tr h="4876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日期</a:t>
                      </a:r>
                      <a:r>
                        <a:rPr lang="en-US" altLang="zh-CN" sz="1400" b="1"/>
                        <a:t> v</a:t>
                      </a:r>
                      <a:endParaRPr lang="en-US" altLang="zh-CN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班次</a:t>
                      </a:r>
                      <a:r>
                        <a:rPr lang="en-US" altLang="zh-CN" sz="1400" b="1"/>
                        <a:t> v</a:t>
                      </a:r>
                      <a:endParaRPr lang="en-US" altLang="zh-CN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牌号</a:t>
                      </a:r>
                      <a:r>
                        <a:rPr lang="en-US" altLang="zh-CN" sz="1400" b="1"/>
                        <a:t> v</a:t>
                      </a:r>
                      <a:endParaRPr lang="en-US" altLang="zh-CN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图片数量（张）</a:t>
                      </a:r>
                      <a:endParaRPr lang="zh-CN" altLang="en-US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操作</a:t>
                      </a:r>
                      <a:endParaRPr lang="zh-CN" altLang="en-US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2026/12/31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中班</a:t>
                      </a: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玉溪（软）</a:t>
                      </a: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324</a:t>
                      </a: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查看图片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查看图片</a:t>
                      </a: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查看图片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查看图片</a:t>
                      </a: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.......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.......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.......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9" name="同侧圆角矩形 58"/>
          <p:cNvSpPr/>
          <p:nvPr>
            <p:custDataLst>
              <p:tags r:id="rId3"/>
            </p:custDataLst>
          </p:nvPr>
        </p:nvSpPr>
        <p:spPr>
          <a:xfrm>
            <a:off x="4749165" y="1109345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Calibri" panose="020F0502020204030204" charset="0"/>
              </a:rPr>
              <a:t>③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sz="1400">
                <a:solidFill>
                  <a:schemeClr val="tx1"/>
                </a:solidFill>
              </a:rPr>
              <a:t>模型训练与版本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62" name="同侧圆角矩形 61"/>
          <p:cNvSpPr/>
          <p:nvPr/>
        </p:nvSpPr>
        <p:spPr>
          <a:xfrm>
            <a:off x="6861810" y="1109345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④</a:t>
            </a:r>
            <a:r>
              <a:rPr lang="en-US" alt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sz="1400">
                <a:solidFill>
                  <a:schemeClr val="tx1"/>
                </a:solidFill>
              </a:rPr>
              <a:t>结果统计与展示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65" name="同侧圆角矩形 64"/>
          <p:cNvSpPr/>
          <p:nvPr>
            <p:custDataLst>
              <p:tags r:id="rId4"/>
            </p:custDataLst>
          </p:nvPr>
        </p:nvSpPr>
        <p:spPr>
          <a:xfrm>
            <a:off x="518160" y="1109345"/>
            <a:ext cx="2033905" cy="37465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  <a:latin typeface="Calibri" panose="020F0502020204030204" charset="0"/>
              </a:rPr>
              <a:t>①</a:t>
            </a:r>
            <a:r>
              <a:rPr lang="en-US" altLang="zh-CN" sz="1400" b="1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altLang="en-US" sz="1400" b="1">
                <a:solidFill>
                  <a:schemeClr val="tx1"/>
                </a:solidFill>
              </a:rPr>
              <a:t>图像集成与采集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66" name="同侧圆角矩形 65"/>
          <p:cNvSpPr/>
          <p:nvPr>
            <p:custDataLst>
              <p:tags r:id="rId5"/>
            </p:custDataLst>
          </p:nvPr>
        </p:nvSpPr>
        <p:spPr>
          <a:xfrm>
            <a:off x="2625090" y="1109345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②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权限分类与标注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497705" y="504825"/>
            <a:ext cx="61258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olidFill>
                  <a:srgbClr val="FF0000"/>
                </a:solidFill>
                <a:sym typeface="+mn-ea"/>
              </a:rPr>
              <a:t>烟支外观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五轮成像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小包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CCD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散包检测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条外观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更多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...</a:t>
            </a:r>
            <a:endParaRPr lang="en-US" altLang="zh-CN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 2" panose="05020102010507070707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 rot="0">
            <a:off x="3134360" y="504190"/>
            <a:ext cx="1132840" cy="306705"/>
            <a:chOff x="15165" y="681"/>
            <a:chExt cx="1809" cy="483"/>
          </a:xfrm>
        </p:grpSpPr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165" y="755"/>
              <a:ext cx="353" cy="329"/>
            </a:xfrm>
            <a:prstGeom prst="rect">
              <a:avLst/>
            </a:prstGeom>
          </p:spPr>
        </p:pic>
        <p:sp>
          <p:nvSpPr>
            <p:cNvPr id="74" name="文本框 73"/>
            <p:cNvSpPr txBox="1"/>
            <p:nvPr/>
          </p:nvSpPr>
          <p:spPr>
            <a:xfrm>
              <a:off x="15413" y="681"/>
              <a:ext cx="1561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400">
                  <a:sym typeface="Wingdings 2" panose="05020102010507070707" charset="0"/>
                </a:rPr>
                <a:t>基础设置</a:t>
              </a:r>
              <a:endParaRPr lang="zh-CN" altLang="en-US" sz="1400">
                <a:sym typeface="Wingdings 2" panose="05020102010507070707" charset="0"/>
              </a:endParaRPr>
            </a:p>
          </p:txBody>
        </p:sp>
      </p:grpSp>
      <p:sp>
        <p:nvSpPr>
          <p:cNvPr id="81" name="椭圆 80"/>
          <p:cNvSpPr/>
          <p:nvPr/>
        </p:nvSpPr>
        <p:spPr>
          <a:xfrm>
            <a:off x="11472545" y="489585"/>
            <a:ext cx="347345" cy="337185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10600055" y="520065"/>
            <a:ext cx="8718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 i="1">
                <a:sym typeface="Wingdings 2" panose="05020102010507070707" charset="0"/>
              </a:rPr>
              <a:t>管理员</a:t>
            </a:r>
            <a:endParaRPr lang="zh-CN" altLang="en-US" sz="1200" i="1">
              <a:sym typeface="Wingdings 2" panose="05020102010507070707" charset="0"/>
            </a:endParaRPr>
          </a:p>
        </p:txBody>
      </p:sp>
      <p:grpSp>
        <p:nvGrpSpPr>
          <p:cNvPr id="86" name="组合 85"/>
          <p:cNvGrpSpPr/>
          <p:nvPr>
            <p:custDataLst>
              <p:tags r:id="rId7"/>
            </p:custDataLst>
          </p:nvPr>
        </p:nvGrpSpPr>
        <p:grpSpPr>
          <a:xfrm rot="0">
            <a:off x="9607550" y="1119505"/>
            <a:ext cx="2117725" cy="354330"/>
            <a:chOff x="6870" y="3059"/>
            <a:chExt cx="3335" cy="412"/>
          </a:xfrm>
          <a:solidFill>
            <a:schemeClr val="bg1">
              <a:lumMod val="95000"/>
            </a:schemeClr>
          </a:solidFill>
        </p:grpSpPr>
        <p:sp>
          <p:nvSpPr>
            <p:cNvPr id="87" name="矩形 86"/>
            <p:cNvSpPr/>
            <p:nvPr>
              <p:custDataLst>
                <p:tags r:id="rId8"/>
              </p:custDataLst>
            </p:nvPr>
          </p:nvSpPr>
          <p:spPr>
            <a:xfrm>
              <a:off x="6870" y="3059"/>
              <a:ext cx="1617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选择车间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矩形 87"/>
            <p:cNvSpPr/>
            <p:nvPr>
              <p:custDataLst>
                <p:tags r:id="rId9"/>
              </p:custDataLst>
            </p:nvPr>
          </p:nvSpPr>
          <p:spPr>
            <a:xfrm>
              <a:off x="8575" y="3059"/>
              <a:ext cx="1630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选择区域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52450" y="458470"/>
            <a:ext cx="2395220" cy="368300"/>
            <a:chOff x="616" y="536"/>
            <a:chExt cx="3772" cy="580"/>
          </a:xfrm>
        </p:grpSpPr>
        <p:sp>
          <p:nvSpPr>
            <p:cNvPr id="122" name="文本框 121"/>
            <p:cNvSpPr txBox="1"/>
            <p:nvPr/>
          </p:nvSpPr>
          <p:spPr>
            <a:xfrm>
              <a:off x="1068" y="536"/>
              <a:ext cx="3321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>
                  <a:solidFill>
                    <a:srgbClr val="003B79"/>
                  </a:solidFill>
                  <a:sym typeface="Wingdings 2" panose="05020102010507070707" charset="0"/>
                </a:rPr>
                <a:t>缺陷图片分析平台</a:t>
              </a:r>
              <a:endParaRPr lang="zh-CN" altLang="en-US" b="1">
                <a:solidFill>
                  <a:srgbClr val="003B79"/>
                </a:solidFill>
                <a:sym typeface="Wingdings 2" panose="05020102010507070707" charset="0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16" y="619"/>
              <a:ext cx="435" cy="399"/>
            </a:xfrm>
            <a:prstGeom prst="rect">
              <a:avLst/>
            </a:prstGeom>
          </p:spPr>
        </p:pic>
      </p:grpSp>
      <p:graphicFrame>
        <p:nvGraphicFramePr>
          <p:cNvPr id="2" name="表格 1"/>
          <p:cNvGraphicFramePr/>
          <p:nvPr>
            <p:custDataLst>
              <p:tags r:id="rId11"/>
            </p:custDataLst>
          </p:nvPr>
        </p:nvGraphicFramePr>
        <p:xfrm>
          <a:off x="638810" y="1640205"/>
          <a:ext cx="2221865" cy="4715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1865"/>
              </a:tblGrid>
              <a:tr h="4997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采集模式</a:t>
                      </a: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997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服务配置</a:t>
                      </a: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003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>
                          <a:sym typeface="Wingdings 2" panose="05020102010507070707" charset="0"/>
                        </a:rPr>
                        <a:t>终端配置</a:t>
                      </a:r>
                      <a:endParaRPr lang="zh-CN" altLang="en-US" sz="1400"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997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sym typeface="Wingdings 2" panose="05020102010507070707" charset="0"/>
                        </a:rPr>
                        <a:t>采集监控</a:t>
                      </a:r>
                      <a:endParaRPr lang="zh-CN" altLang="en-US" sz="1400">
                        <a:solidFill>
                          <a:schemeClr val="tx1"/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003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>
                          <a:solidFill>
                            <a:srgbClr val="C00000"/>
                          </a:solidFill>
                        </a:rPr>
                        <a:t>历史采集</a:t>
                      </a:r>
                      <a:endParaRPr lang="zh-CN" altLang="en-US" sz="1400">
                        <a:solidFill>
                          <a:srgbClr val="C00000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010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sym typeface="Wingdings 2" panose="05020102010507070707" charset="0"/>
                        </a:rPr>
                        <a:t>图片查询</a:t>
                      </a:r>
                      <a:endParaRPr lang="zh-CN" altLang="en-US" sz="1400">
                        <a:solidFill>
                          <a:schemeClr val="tx1"/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7145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custDataLst>
      <p:tags r:id="rId1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" name="矩形 106"/>
          <p:cNvSpPr/>
          <p:nvPr/>
        </p:nvSpPr>
        <p:spPr>
          <a:xfrm>
            <a:off x="515620" y="1486535"/>
            <a:ext cx="11303635" cy="5166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3155315" y="2046605"/>
            <a:ext cx="8570595" cy="43084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093720" y="1640840"/>
            <a:ext cx="436308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buFont typeface="Wingdings" panose="05000000000000000000" charset="0"/>
              <a:buChar char="n"/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en-US" altLang="zh-CN" sz="1400">
                <a:solidFill>
                  <a:srgbClr val="FF0000"/>
                </a:solidFill>
                <a:sym typeface="Wingdings 2" panose="05020102010507070707" charset="0"/>
              </a:rPr>
              <a:t>A02 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sym typeface="Wingdings 2" panose="05020102010507070707" charset="0"/>
              </a:rPr>
              <a:t>产线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zh-CN" altLang="en-US" sz="1400">
                <a:solidFill>
                  <a:srgbClr val="FF0000"/>
                </a:solidFill>
                <a:sym typeface="Wingdings 2" panose="05020102010507070707" charset="0"/>
              </a:rPr>
              <a:t>烟支外观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sym typeface="Wingdings 2" panose="05020102010507070707" charset="0"/>
              </a:rPr>
              <a:t>缺陷图片</a:t>
            </a:r>
            <a:endParaRPr lang="zh-CN" sz="1400">
              <a:solidFill>
                <a:schemeClr val="bg1">
                  <a:lumMod val="50000"/>
                </a:schemeClr>
              </a:solidFill>
              <a:sym typeface="Wingdings 2" panose="05020102010507070707" charset="0"/>
            </a:endParaRPr>
          </a:p>
        </p:txBody>
      </p:sp>
      <p:graphicFrame>
        <p:nvGraphicFramePr>
          <p:cNvPr id="26" name="表格 25"/>
          <p:cNvGraphicFramePr/>
          <p:nvPr>
            <p:custDataLst>
              <p:tags r:id="rId1"/>
            </p:custDataLst>
          </p:nvPr>
        </p:nvGraphicFramePr>
        <p:xfrm>
          <a:off x="3308985" y="2150745"/>
          <a:ext cx="1018540" cy="41319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8540"/>
              </a:tblGrid>
              <a:tr h="3632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选择产线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89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A01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</a:rPr>
                        <a:t>A02</a:t>
                      </a:r>
                      <a:endParaRPr lang="en-US" altLang="zh-CN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8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A03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8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A04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8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A05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9959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9" name="直接连接符 28"/>
          <p:cNvCxnSpPr/>
          <p:nvPr/>
        </p:nvCxnSpPr>
        <p:spPr>
          <a:xfrm>
            <a:off x="4450080" y="2134235"/>
            <a:ext cx="5080" cy="413448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627880" y="2339340"/>
            <a:ext cx="1395730" cy="9518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图片</a:t>
            </a:r>
            <a:endParaRPr lang="zh-CN" altLang="en-US" sz="1200"/>
          </a:p>
        </p:txBody>
      </p:sp>
      <p:sp>
        <p:nvSpPr>
          <p:cNvPr id="36" name="矩形 35"/>
          <p:cNvSpPr/>
          <p:nvPr/>
        </p:nvSpPr>
        <p:spPr>
          <a:xfrm>
            <a:off x="6377940" y="2339340"/>
            <a:ext cx="1395730" cy="9518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图片</a:t>
            </a:r>
            <a:endParaRPr lang="zh-CN" altLang="en-US" sz="1200"/>
          </a:p>
        </p:txBody>
      </p:sp>
      <p:sp>
        <p:nvSpPr>
          <p:cNvPr id="37" name="矩形 36"/>
          <p:cNvSpPr/>
          <p:nvPr/>
        </p:nvSpPr>
        <p:spPr>
          <a:xfrm>
            <a:off x="8128635" y="2339340"/>
            <a:ext cx="1395730" cy="9518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图片</a:t>
            </a:r>
            <a:endParaRPr lang="zh-CN" altLang="en-US" sz="1200"/>
          </a:p>
        </p:txBody>
      </p:sp>
      <p:sp>
        <p:nvSpPr>
          <p:cNvPr id="38" name="矩形 37"/>
          <p:cNvSpPr/>
          <p:nvPr/>
        </p:nvSpPr>
        <p:spPr>
          <a:xfrm>
            <a:off x="9878695" y="2339340"/>
            <a:ext cx="1395730" cy="9518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图片</a:t>
            </a:r>
            <a:endParaRPr lang="zh-CN" altLang="en-US" sz="1200"/>
          </a:p>
        </p:txBody>
      </p:sp>
      <p:sp>
        <p:nvSpPr>
          <p:cNvPr id="39" name="矩形 38"/>
          <p:cNvSpPr/>
          <p:nvPr/>
        </p:nvSpPr>
        <p:spPr>
          <a:xfrm>
            <a:off x="4627880" y="3482975"/>
            <a:ext cx="1395730" cy="9518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图片</a:t>
            </a:r>
            <a:endParaRPr lang="zh-CN" altLang="en-US" sz="1200"/>
          </a:p>
        </p:txBody>
      </p:sp>
      <p:sp>
        <p:nvSpPr>
          <p:cNvPr id="40" name="矩形 39"/>
          <p:cNvSpPr/>
          <p:nvPr/>
        </p:nvSpPr>
        <p:spPr>
          <a:xfrm>
            <a:off x="6377940" y="3482975"/>
            <a:ext cx="1395730" cy="9518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41" name="矩形 40"/>
          <p:cNvSpPr/>
          <p:nvPr/>
        </p:nvSpPr>
        <p:spPr>
          <a:xfrm>
            <a:off x="8128635" y="3482975"/>
            <a:ext cx="1395730" cy="9518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图片</a:t>
            </a:r>
            <a:endParaRPr lang="zh-CN" altLang="en-US" sz="1200"/>
          </a:p>
        </p:txBody>
      </p:sp>
      <p:sp>
        <p:nvSpPr>
          <p:cNvPr id="42" name="矩形 41"/>
          <p:cNvSpPr/>
          <p:nvPr/>
        </p:nvSpPr>
        <p:spPr>
          <a:xfrm>
            <a:off x="9878695" y="3482975"/>
            <a:ext cx="1395730" cy="9518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图片</a:t>
            </a:r>
            <a:endParaRPr lang="zh-CN" altLang="en-US" sz="1200"/>
          </a:p>
        </p:txBody>
      </p:sp>
      <p:sp>
        <p:nvSpPr>
          <p:cNvPr id="43" name="矩形 42"/>
          <p:cNvSpPr/>
          <p:nvPr/>
        </p:nvSpPr>
        <p:spPr>
          <a:xfrm>
            <a:off x="4627880" y="4651375"/>
            <a:ext cx="1395730" cy="9518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图片</a:t>
            </a:r>
            <a:endParaRPr lang="zh-CN" altLang="en-US" sz="1200"/>
          </a:p>
        </p:txBody>
      </p:sp>
      <p:sp>
        <p:nvSpPr>
          <p:cNvPr id="44" name="矩形 43"/>
          <p:cNvSpPr/>
          <p:nvPr/>
        </p:nvSpPr>
        <p:spPr>
          <a:xfrm>
            <a:off x="6377940" y="4651375"/>
            <a:ext cx="1395730" cy="9518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图片</a:t>
            </a:r>
            <a:endParaRPr lang="zh-CN" altLang="en-US" sz="1200"/>
          </a:p>
        </p:txBody>
      </p:sp>
      <p:sp>
        <p:nvSpPr>
          <p:cNvPr id="45" name="矩形 44"/>
          <p:cNvSpPr/>
          <p:nvPr/>
        </p:nvSpPr>
        <p:spPr>
          <a:xfrm>
            <a:off x="8128635" y="4651375"/>
            <a:ext cx="1395730" cy="9518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图片</a:t>
            </a:r>
            <a:endParaRPr lang="zh-CN" altLang="en-US" sz="1200"/>
          </a:p>
        </p:txBody>
      </p:sp>
      <p:sp>
        <p:nvSpPr>
          <p:cNvPr id="46" name="矩形 45"/>
          <p:cNvSpPr/>
          <p:nvPr/>
        </p:nvSpPr>
        <p:spPr>
          <a:xfrm>
            <a:off x="9878695" y="4651375"/>
            <a:ext cx="1395730" cy="9518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图片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8308340" y="5695315"/>
            <a:ext cx="296608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400">
                <a:sym typeface="Wingdings 2" panose="05020102010507070707" charset="0"/>
              </a:rPr>
              <a:t>每页</a:t>
            </a:r>
            <a:r>
              <a:rPr lang="en-US" altLang="zh-CN" sz="1400">
                <a:sym typeface="Wingdings 2" panose="05020102010507070707" charset="0"/>
              </a:rPr>
              <a:t> </a:t>
            </a:r>
            <a:r>
              <a:rPr lang="en-US" altLang="zh-CN" sz="1400" b="1">
                <a:solidFill>
                  <a:srgbClr val="FF0000"/>
                </a:solidFill>
                <a:sym typeface="Wingdings 2" panose="05020102010507070707" charset="0"/>
              </a:rPr>
              <a:t>X</a:t>
            </a:r>
            <a:r>
              <a:rPr lang="en-US" altLang="zh-CN" sz="1400">
                <a:sym typeface="Wingdings 2" panose="05020102010507070707" charset="0"/>
              </a:rPr>
              <a:t> </a:t>
            </a:r>
            <a:r>
              <a:rPr lang="zh-CN" altLang="en-US" sz="1400">
                <a:sym typeface="Wingdings 2" panose="05020102010507070707" charset="0"/>
              </a:rPr>
              <a:t>张</a:t>
            </a:r>
            <a:r>
              <a:rPr lang="en-US" altLang="zh-CN" sz="1400">
                <a:sym typeface="Wingdings 2" panose="05020102010507070707" charset="0"/>
              </a:rPr>
              <a:t> / </a:t>
            </a:r>
            <a:r>
              <a:rPr lang="zh-CN" altLang="en-US" sz="1400">
                <a:sym typeface="Wingdings 2" panose="05020102010507070707" charset="0"/>
              </a:rPr>
              <a:t>共</a:t>
            </a:r>
            <a:r>
              <a:rPr lang="en-US" altLang="zh-CN" sz="1400">
                <a:sym typeface="Wingdings 2" panose="05020102010507070707" charset="0"/>
              </a:rPr>
              <a:t> </a:t>
            </a:r>
            <a:r>
              <a:rPr lang="en-US" altLang="zh-CN" sz="1400" b="1">
                <a:solidFill>
                  <a:srgbClr val="FF0000"/>
                </a:solidFill>
                <a:sym typeface="Wingdings 2" panose="05020102010507070707" charset="0"/>
              </a:rPr>
              <a:t>Y </a:t>
            </a:r>
            <a:r>
              <a:rPr lang="zh-CN" altLang="en-US" sz="1400">
                <a:sym typeface="Wingdings 2" panose="05020102010507070707" charset="0"/>
              </a:rPr>
              <a:t>页</a:t>
            </a:r>
            <a:r>
              <a:rPr lang="en-US" altLang="zh-CN" sz="1400">
                <a:sym typeface="Wingdings 2" panose="05020102010507070707" charset="0"/>
              </a:rPr>
              <a:t>  1 	2    3    4...</a:t>
            </a:r>
            <a:endParaRPr lang="en-US" altLang="zh-CN" sz="1400">
              <a:sym typeface="Wingdings 2" panose="05020102010507070707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27880" y="5772150"/>
            <a:ext cx="2717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zh-CN" altLang="en-US" sz="1400">
                <a:sym typeface="Wingdings 2" panose="05020102010507070707" charset="0"/>
              </a:rPr>
              <a:t>满足条件图片共有</a:t>
            </a:r>
            <a:r>
              <a:rPr lang="en-US" altLang="zh-CN" sz="1400">
                <a:sym typeface="Wingdings 2" panose="05020102010507070707" charset="0"/>
              </a:rPr>
              <a:t> </a:t>
            </a:r>
            <a:r>
              <a:rPr lang="en-US" altLang="zh-CN" sz="1400" b="1">
                <a:solidFill>
                  <a:srgbClr val="FF0000"/>
                </a:solidFill>
                <a:sym typeface="Wingdings 2" panose="05020102010507070707" charset="0"/>
              </a:rPr>
              <a:t>X</a:t>
            </a:r>
            <a:r>
              <a:rPr lang="en-US" altLang="zh-CN" sz="1400">
                <a:sym typeface="Wingdings 2" panose="05020102010507070707" charset="0"/>
              </a:rPr>
              <a:t> </a:t>
            </a:r>
            <a:r>
              <a:rPr lang="zh-CN" altLang="en-US" sz="1400">
                <a:sym typeface="Wingdings 2" panose="05020102010507070707" charset="0"/>
              </a:rPr>
              <a:t>张</a:t>
            </a:r>
            <a:endParaRPr lang="zh-CN" altLang="en-US" sz="1400">
              <a:sym typeface="Wingdings 2" panose="05020102010507070707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143875" y="1671955"/>
            <a:ext cx="1151890" cy="2571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i="1">
                <a:solidFill>
                  <a:schemeClr val="tx1"/>
                </a:solidFill>
              </a:rPr>
              <a:t>2026/12/31  v</a:t>
            </a:r>
            <a:endParaRPr lang="en-US" altLang="zh-CN" sz="1200" i="1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296400" y="1671955"/>
            <a:ext cx="1151890" cy="2571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i="1">
                <a:solidFill>
                  <a:schemeClr val="tx1"/>
                </a:solidFill>
              </a:rPr>
              <a:t>2026/12/31  v</a:t>
            </a:r>
            <a:endParaRPr lang="en-US" altLang="zh-CN" sz="1200" i="1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545445" y="1671955"/>
            <a:ext cx="826770" cy="2571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 i="1">
                <a:solidFill>
                  <a:schemeClr val="tx1"/>
                </a:solidFill>
              </a:rPr>
              <a:t>班</a:t>
            </a:r>
            <a:r>
              <a:rPr lang="en-US" altLang="zh-CN" sz="1200" i="1">
                <a:solidFill>
                  <a:schemeClr val="tx1"/>
                </a:solidFill>
              </a:rPr>
              <a:t> </a:t>
            </a:r>
            <a:r>
              <a:rPr lang="zh-CN" sz="1200" i="1">
                <a:solidFill>
                  <a:schemeClr val="tx1"/>
                </a:solidFill>
              </a:rPr>
              <a:t>次</a:t>
            </a:r>
            <a:r>
              <a:rPr lang="en-US" altLang="zh-CN" sz="1200" i="1">
                <a:solidFill>
                  <a:schemeClr val="tx1"/>
                </a:solidFill>
              </a:rPr>
              <a:t>    v </a:t>
            </a:r>
            <a:endParaRPr lang="en-US" altLang="zh-CN" sz="1200" i="1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1435" y="1683385"/>
            <a:ext cx="245745" cy="241300"/>
          </a:xfrm>
          <a:prstGeom prst="rect">
            <a:avLst/>
          </a:prstGeom>
        </p:spPr>
      </p:pic>
      <p:sp>
        <p:nvSpPr>
          <p:cNvPr id="59" name="同侧圆角矩形 58"/>
          <p:cNvSpPr/>
          <p:nvPr>
            <p:custDataLst>
              <p:tags r:id="rId3"/>
            </p:custDataLst>
          </p:nvPr>
        </p:nvSpPr>
        <p:spPr>
          <a:xfrm>
            <a:off x="4749165" y="111760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Calibri" panose="020F0502020204030204" charset="0"/>
              </a:rPr>
              <a:t>③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sz="1400">
                <a:solidFill>
                  <a:schemeClr val="tx1"/>
                </a:solidFill>
              </a:rPr>
              <a:t>模型训练与版本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62" name="同侧圆角矩形 61"/>
          <p:cNvSpPr/>
          <p:nvPr/>
        </p:nvSpPr>
        <p:spPr>
          <a:xfrm>
            <a:off x="6861810" y="111760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④</a:t>
            </a:r>
            <a:r>
              <a:rPr lang="en-US" alt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sz="1400">
                <a:solidFill>
                  <a:schemeClr val="tx1"/>
                </a:solidFill>
              </a:rPr>
              <a:t>结果统计与展示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65" name="同侧圆角矩形 64"/>
          <p:cNvSpPr/>
          <p:nvPr>
            <p:custDataLst>
              <p:tags r:id="rId4"/>
            </p:custDataLst>
          </p:nvPr>
        </p:nvSpPr>
        <p:spPr>
          <a:xfrm>
            <a:off x="518160" y="1117600"/>
            <a:ext cx="2033905" cy="37465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  <a:latin typeface="Calibri" panose="020F0502020204030204" charset="0"/>
              </a:rPr>
              <a:t>①</a:t>
            </a:r>
            <a:r>
              <a:rPr lang="en-US" altLang="zh-CN" sz="1400" b="1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altLang="en-US" sz="1400" b="1">
                <a:solidFill>
                  <a:schemeClr val="tx1"/>
                </a:solidFill>
              </a:rPr>
              <a:t>图像集成与采集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66" name="同侧圆角矩形 65"/>
          <p:cNvSpPr/>
          <p:nvPr>
            <p:custDataLst>
              <p:tags r:id="rId5"/>
            </p:custDataLst>
          </p:nvPr>
        </p:nvSpPr>
        <p:spPr>
          <a:xfrm>
            <a:off x="2625090" y="111760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②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权限分类与标注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497705" y="513080"/>
            <a:ext cx="61258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olidFill>
                  <a:srgbClr val="FF0000"/>
                </a:solidFill>
                <a:sym typeface="+mn-ea"/>
              </a:rPr>
              <a:t>烟支外观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五轮成像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小包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CCD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散包检测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条外观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更多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...</a:t>
            </a:r>
            <a:endParaRPr lang="en-US" altLang="zh-CN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 2" panose="05020102010507070707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 rot="0">
            <a:off x="3134360" y="512445"/>
            <a:ext cx="1132840" cy="306705"/>
            <a:chOff x="15165" y="681"/>
            <a:chExt cx="1809" cy="483"/>
          </a:xfrm>
        </p:grpSpPr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165" y="755"/>
              <a:ext cx="353" cy="329"/>
            </a:xfrm>
            <a:prstGeom prst="rect">
              <a:avLst/>
            </a:prstGeom>
          </p:spPr>
        </p:pic>
        <p:sp>
          <p:nvSpPr>
            <p:cNvPr id="74" name="文本框 73"/>
            <p:cNvSpPr txBox="1"/>
            <p:nvPr/>
          </p:nvSpPr>
          <p:spPr>
            <a:xfrm>
              <a:off x="15413" y="681"/>
              <a:ext cx="1561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400">
                  <a:sym typeface="Wingdings 2" panose="05020102010507070707" charset="0"/>
                </a:rPr>
                <a:t>基础设置</a:t>
              </a:r>
              <a:endParaRPr lang="zh-CN" altLang="en-US" sz="1400">
                <a:sym typeface="Wingdings 2" panose="05020102010507070707" charset="0"/>
              </a:endParaRPr>
            </a:p>
          </p:txBody>
        </p:sp>
      </p:grpSp>
      <p:sp>
        <p:nvSpPr>
          <p:cNvPr id="81" name="椭圆 80"/>
          <p:cNvSpPr/>
          <p:nvPr/>
        </p:nvSpPr>
        <p:spPr>
          <a:xfrm>
            <a:off x="11472545" y="497840"/>
            <a:ext cx="347345" cy="337185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10600055" y="528320"/>
            <a:ext cx="8718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 i="1">
                <a:sym typeface="Wingdings 2" panose="05020102010507070707" charset="0"/>
              </a:rPr>
              <a:t>管理员</a:t>
            </a:r>
            <a:endParaRPr lang="zh-CN" altLang="en-US" sz="1200" i="1">
              <a:sym typeface="Wingdings 2" panose="05020102010507070707" charset="0"/>
            </a:endParaRPr>
          </a:p>
        </p:txBody>
      </p:sp>
      <p:grpSp>
        <p:nvGrpSpPr>
          <p:cNvPr id="86" name="组合 85"/>
          <p:cNvGrpSpPr/>
          <p:nvPr>
            <p:custDataLst>
              <p:tags r:id="rId7"/>
            </p:custDataLst>
          </p:nvPr>
        </p:nvGrpSpPr>
        <p:grpSpPr>
          <a:xfrm rot="0">
            <a:off x="9693275" y="1127760"/>
            <a:ext cx="2117725" cy="354330"/>
            <a:chOff x="6870" y="3059"/>
            <a:chExt cx="3335" cy="412"/>
          </a:xfrm>
          <a:solidFill>
            <a:schemeClr val="bg1">
              <a:lumMod val="95000"/>
            </a:schemeClr>
          </a:solidFill>
        </p:grpSpPr>
        <p:sp>
          <p:nvSpPr>
            <p:cNvPr id="87" name="矩形 86"/>
            <p:cNvSpPr/>
            <p:nvPr>
              <p:custDataLst>
                <p:tags r:id="rId8"/>
              </p:custDataLst>
            </p:nvPr>
          </p:nvSpPr>
          <p:spPr>
            <a:xfrm>
              <a:off x="6870" y="3059"/>
              <a:ext cx="1617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选择车间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矩形 87"/>
            <p:cNvSpPr/>
            <p:nvPr>
              <p:custDataLst>
                <p:tags r:id="rId9"/>
              </p:custDataLst>
            </p:nvPr>
          </p:nvSpPr>
          <p:spPr>
            <a:xfrm>
              <a:off x="8575" y="3059"/>
              <a:ext cx="1630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选择区域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6377940" y="3482975"/>
            <a:ext cx="1395730" cy="9518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图片</a:t>
            </a:r>
            <a:endParaRPr lang="zh-CN" altLang="en-US" sz="1200"/>
          </a:p>
        </p:txBody>
      </p:sp>
      <p:grpSp>
        <p:nvGrpSpPr>
          <p:cNvPr id="15" name="组合 14"/>
          <p:cNvGrpSpPr/>
          <p:nvPr/>
        </p:nvGrpSpPr>
        <p:grpSpPr>
          <a:xfrm>
            <a:off x="537845" y="488950"/>
            <a:ext cx="2395220" cy="368300"/>
            <a:chOff x="616" y="536"/>
            <a:chExt cx="3772" cy="580"/>
          </a:xfrm>
        </p:grpSpPr>
        <p:sp>
          <p:nvSpPr>
            <p:cNvPr id="122" name="文本框 121"/>
            <p:cNvSpPr txBox="1"/>
            <p:nvPr/>
          </p:nvSpPr>
          <p:spPr>
            <a:xfrm>
              <a:off x="1068" y="536"/>
              <a:ext cx="3321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>
                  <a:solidFill>
                    <a:srgbClr val="003B79"/>
                  </a:solidFill>
                  <a:sym typeface="Wingdings 2" panose="05020102010507070707" charset="0"/>
                </a:rPr>
                <a:t>缺陷图片分析平台</a:t>
              </a:r>
              <a:endParaRPr lang="zh-CN" altLang="en-US" b="1">
                <a:solidFill>
                  <a:srgbClr val="003B79"/>
                </a:solidFill>
                <a:sym typeface="Wingdings 2" panose="05020102010507070707" charset="0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16" y="619"/>
              <a:ext cx="435" cy="399"/>
            </a:xfrm>
            <a:prstGeom prst="rect">
              <a:avLst/>
            </a:prstGeom>
          </p:spPr>
        </p:pic>
      </p:grpSp>
      <p:graphicFrame>
        <p:nvGraphicFramePr>
          <p:cNvPr id="3" name="表格 2"/>
          <p:cNvGraphicFramePr/>
          <p:nvPr>
            <p:custDataLst>
              <p:tags r:id="rId11"/>
            </p:custDataLst>
          </p:nvPr>
        </p:nvGraphicFramePr>
        <p:xfrm>
          <a:off x="638810" y="1640205"/>
          <a:ext cx="2221865" cy="4715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1865"/>
              </a:tblGrid>
              <a:tr h="4997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采集模式</a:t>
                      </a: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997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服务配置</a:t>
                      </a: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003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>
                          <a:sym typeface="Wingdings 2" panose="05020102010507070707" charset="0"/>
                        </a:rPr>
                        <a:t>终端配置</a:t>
                      </a:r>
                      <a:endParaRPr lang="zh-CN" altLang="en-US" sz="1400"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997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sym typeface="Wingdings 2" panose="05020102010507070707" charset="0"/>
                        </a:rPr>
                        <a:t>采集监控</a:t>
                      </a:r>
                      <a:endParaRPr lang="zh-CN" altLang="en-US" sz="1400">
                        <a:solidFill>
                          <a:schemeClr val="tx1"/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003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历史采集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0101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>
                          <a:solidFill>
                            <a:srgbClr val="C00000"/>
                          </a:solidFill>
                          <a:sym typeface="Wingdings 2" panose="05020102010507070707" charset="0"/>
                        </a:rPr>
                        <a:t>图片查询</a:t>
                      </a:r>
                      <a:endParaRPr lang="zh-CN" altLang="en-US" sz="1400">
                        <a:solidFill>
                          <a:srgbClr val="C00000"/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7145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custDataLst>
      <p:tags r:id="rId1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1887855"/>
            <a:ext cx="10968990" cy="2227580"/>
          </a:xfrm>
        </p:spPr>
        <p:txBody>
          <a:bodyPr/>
          <a:p>
            <a:pPr algn="ctr"/>
            <a:r>
              <a:rPr lang="zh-CN" altLang="en-US" b="1"/>
              <a:t>缺陷标注</a:t>
            </a:r>
            <a:endParaRPr lang="zh-CN" altLang="en-US" b="1"/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矩形 26"/>
          <p:cNvSpPr/>
          <p:nvPr/>
        </p:nvSpPr>
        <p:spPr>
          <a:xfrm>
            <a:off x="454660" y="1722120"/>
            <a:ext cx="11365865" cy="4673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2922270" y="2341245"/>
          <a:ext cx="8677910" cy="38011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5910"/>
                <a:gridCol w="1454785"/>
                <a:gridCol w="1461770"/>
                <a:gridCol w="1360805"/>
                <a:gridCol w="1456055"/>
                <a:gridCol w="1378585"/>
              </a:tblGrid>
              <a:tr h="4857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品规</a:t>
                      </a:r>
                      <a:endParaRPr lang="zh-CN" altLang="en-US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样本数量</a:t>
                      </a:r>
                      <a:endParaRPr lang="zh-CN" altLang="en-US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标注中数量</a:t>
                      </a:r>
                      <a:endParaRPr lang="zh-CN" altLang="en-US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400" b="1"/>
                        <a:t>未标准数量</a:t>
                      </a:r>
                      <a:endParaRPr lang="zh-CN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导出数量</a:t>
                      </a:r>
                      <a:endParaRPr lang="zh-CN" altLang="en-US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操作</a:t>
                      </a:r>
                      <a:endParaRPr lang="zh-CN" altLang="en-US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845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牌号</a:t>
                      </a:r>
                      <a:r>
                        <a:rPr lang="en-US" altLang="zh-CN" sz="1400"/>
                        <a:t>1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98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59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39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0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继续标注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864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牌号</a:t>
                      </a:r>
                      <a:r>
                        <a:rPr lang="en-US" altLang="zh-CN" sz="1400"/>
                        <a:t>2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98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59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39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0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继续标注</a:t>
                      </a: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857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牌号</a:t>
                      </a:r>
                      <a:r>
                        <a:rPr lang="en-US" altLang="zh-CN" sz="1400"/>
                        <a:t>3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98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59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39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0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继续标注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857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牌号</a:t>
                      </a:r>
                      <a:r>
                        <a:rPr lang="en-US" altLang="zh-CN" sz="1400"/>
                        <a:t>4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98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59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39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0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继续标注</a:t>
                      </a: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8514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8577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01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.......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.......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.......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表格 16"/>
          <p:cNvGraphicFramePr/>
          <p:nvPr>
            <p:custDataLst>
              <p:tags r:id="rId2"/>
            </p:custDataLst>
          </p:nvPr>
        </p:nvGraphicFramePr>
        <p:xfrm>
          <a:off x="659765" y="1830070"/>
          <a:ext cx="1924685" cy="4338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4685"/>
              </a:tblGrid>
              <a:tr h="49466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增加分类</a:t>
                      </a:r>
                      <a:endParaRPr lang="zh-CN" altLang="en-US" sz="14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232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污渍</a:t>
                      </a:r>
                      <a:endParaRPr lang="zh-CN" altLang="en-US" sz="1400" b="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402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翘边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529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/>
                        <a:t>封签歪斜</a:t>
                      </a: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529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/>
                        <a:t>印刷错误</a:t>
                      </a:r>
                      <a:endParaRPr lang="zh-CN" altLang="en-US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558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/>
                        <a:t>.......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2967355" y="1943100"/>
            <a:ext cx="2237105" cy="308610"/>
            <a:chOff x="8084" y="3053"/>
            <a:chExt cx="3523" cy="486"/>
          </a:xfrm>
        </p:grpSpPr>
        <p:sp>
          <p:nvSpPr>
            <p:cNvPr id="2" name="矩形 1"/>
            <p:cNvSpPr/>
            <p:nvPr/>
          </p:nvSpPr>
          <p:spPr>
            <a:xfrm>
              <a:off x="8084" y="3053"/>
              <a:ext cx="3047" cy="4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zh-CN" sz="1200" i="1">
                  <a:solidFill>
                    <a:schemeClr val="bg1">
                      <a:lumMod val="50000"/>
                    </a:schemeClr>
                  </a:solidFill>
                </a:rPr>
                <a:t>请选择产品规格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          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71" y="3078"/>
              <a:ext cx="436" cy="434"/>
            </a:xfrm>
            <a:prstGeom prst="rect">
              <a:avLst/>
            </a:prstGeom>
          </p:spPr>
        </p:pic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" y="1982470"/>
            <a:ext cx="209550" cy="201295"/>
          </a:xfrm>
          <a:prstGeom prst="rect">
            <a:avLst/>
          </a:prstGeom>
        </p:spPr>
      </p:pic>
      <p:sp>
        <p:nvSpPr>
          <p:cNvPr id="59" name="同侧圆角矩形 58"/>
          <p:cNvSpPr/>
          <p:nvPr>
            <p:custDataLst>
              <p:tags r:id="rId5"/>
            </p:custDataLst>
          </p:nvPr>
        </p:nvSpPr>
        <p:spPr>
          <a:xfrm>
            <a:off x="4749165" y="1340485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Calibri" panose="020F0502020204030204" charset="0"/>
              </a:rPr>
              <a:t>③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sz="1400">
                <a:solidFill>
                  <a:schemeClr val="tx1"/>
                </a:solidFill>
              </a:rPr>
              <a:t>模型训练与版本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62" name="同侧圆角矩形 61"/>
          <p:cNvSpPr/>
          <p:nvPr/>
        </p:nvSpPr>
        <p:spPr>
          <a:xfrm>
            <a:off x="6861810" y="1340485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④</a:t>
            </a:r>
            <a:r>
              <a:rPr lang="en-US" alt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sz="1400">
                <a:solidFill>
                  <a:schemeClr val="tx1"/>
                </a:solidFill>
              </a:rPr>
              <a:t>结果统计与展示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65" name="同侧圆角矩形 64"/>
          <p:cNvSpPr/>
          <p:nvPr>
            <p:custDataLst>
              <p:tags r:id="rId6"/>
            </p:custDataLst>
          </p:nvPr>
        </p:nvSpPr>
        <p:spPr>
          <a:xfrm>
            <a:off x="518160" y="1340485"/>
            <a:ext cx="2033905" cy="37465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Calibri" panose="020F0502020204030204" charset="0"/>
              </a:rPr>
              <a:t>①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altLang="en-US" sz="1400">
                <a:solidFill>
                  <a:schemeClr val="tx1"/>
                </a:solidFill>
              </a:rPr>
              <a:t>图像集成与采</a:t>
            </a:r>
            <a:r>
              <a:rPr lang="zh-CN" altLang="en-US" sz="1400" b="1">
                <a:solidFill>
                  <a:schemeClr val="tx1"/>
                </a:solidFill>
              </a:rPr>
              <a:t>集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66" name="同侧圆角矩形 65"/>
          <p:cNvSpPr/>
          <p:nvPr>
            <p:custDataLst>
              <p:tags r:id="rId7"/>
            </p:custDataLst>
          </p:nvPr>
        </p:nvSpPr>
        <p:spPr>
          <a:xfrm>
            <a:off x="2625090" y="1340485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②</a:t>
            </a:r>
            <a:r>
              <a:rPr lang="en-US" altLang="zh-CN" sz="1400" b="1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权限分类与标注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497705" y="735965"/>
            <a:ext cx="61258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olidFill>
                  <a:srgbClr val="FF0000"/>
                </a:solidFill>
                <a:sym typeface="+mn-ea"/>
              </a:rPr>
              <a:t>烟支外观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五轮成像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小包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CCD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散包检测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条外观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更多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...</a:t>
            </a:r>
            <a:endParaRPr lang="en-US" altLang="zh-CN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 2" panose="05020102010507070707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 rot="0">
            <a:off x="3134360" y="735330"/>
            <a:ext cx="1132840" cy="306705"/>
            <a:chOff x="15165" y="681"/>
            <a:chExt cx="1809" cy="483"/>
          </a:xfrm>
        </p:grpSpPr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165" y="755"/>
              <a:ext cx="353" cy="329"/>
            </a:xfrm>
            <a:prstGeom prst="rect">
              <a:avLst/>
            </a:prstGeom>
          </p:spPr>
        </p:pic>
        <p:sp>
          <p:nvSpPr>
            <p:cNvPr id="74" name="文本框 73"/>
            <p:cNvSpPr txBox="1"/>
            <p:nvPr/>
          </p:nvSpPr>
          <p:spPr>
            <a:xfrm>
              <a:off x="15413" y="681"/>
              <a:ext cx="1561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400">
                  <a:sym typeface="Wingdings 2" panose="05020102010507070707" charset="0"/>
                </a:rPr>
                <a:t>基础设置</a:t>
              </a:r>
              <a:endParaRPr lang="zh-CN" altLang="en-US" sz="1400">
                <a:sym typeface="Wingdings 2" panose="05020102010507070707" charset="0"/>
              </a:endParaRPr>
            </a:p>
          </p:txBody>
        </p:sp>
      </p:grpSp>
      <p:sp>
        <p:nvSpPr>
          <p:cNvPr id="81" name="椭圆 80"/>
          <p:cNvSpPr/>
          <p:nvPr/>
        </p:nvSpPr>
        <p:spPr>
          <a:xfrm>
            <a:off x="11472545" y="720725"/>
            <a:ext cx="347345" cy="337185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10600055" y="751205"/>
            <a:ext cx="8718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 i="1">
                <a:sym typeface="Wingdings 2" panose="05020102010507070707" charset="0"/>
              </a:rPr>
              <a:t>管理员</a:t>
            </a:r>
            <a:endParaRPr lang="zh-CN" altLang="en-US" sz="1200" i="1">
              <a:sym typeface="Wingdings 2" panose="05020102010507070707" charset="0"/>
            </a:endParaRPr>
          </a:p>
        </p:txBody>
      </p:sp>
      <p:grpSp>
        <p:nvGrpSpPr>
          <p:cNvPr id="86" name="组合 85"/>
          <p:cNvGrpSpPr/>
          <p:nvPr>
            <p:custDataLst>
              <p:tags r:id="rId9"/>
            </p:custDataLst>
          </p:nvPr>
        </p:nvGrpSpPr>
        <p:grpSpPr>
          <a:xfrm rot="0">
            <a:off x="9607550" y="1350645"/>
            <a:ext cx="2117725" cy="354330"/>
            <a:chOff x="6870" y="3059"/>
            <a:chExt cx="3335" cy="412"/>
          </a:xfrm>
          <a:solidFill>
            <a:schemeClr val="bg1">
              <a:lumMod val="95000"/>
            </a:schemeClr>
          </a:solidFill>
        </p:grpSpPr>
        <p:sp>
          <p:nvSpPr>
            <p:cNvPr id="87" name="矩形 86"/>
            <p:cNvSpPr/>
            <p:nvPr>
              <p:custDataLst>
                <p:tags r:id="rId10"/>
              </p:custDataLst>
            </p:nvPr>
          </p:nvSpPr>
          <p:spPr>
            <a:xfrm>
              <a:off x="6870" y="3059"/>
              <a:ext cx="1617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选择车间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矩形 87"/>
            <p:cNvSpPr/>
            <p:nvPr>
              <p:custDataLst>
                <p:tags r:id="rId11"/>
              </p:custDataLst>
            </p:nvPr>
          </p:nvSpPr>
          <p:spPr>
            <a:xfrm>
              <a:off x="8575" y="3059"/>
              <a:ext cx="1630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选择区域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37210" y="683260"/>
            <a:ext cx="2395220" cy="368300"/>
            <a:chOff x="616" y="536"/>
            <a:chExt cx="3772" cy="580"/>
          </a:xfrm>
        </p:grpSpPr>
        <p:sp>
          <p:nvSpPr>
            <p:cNvPr id="122" name="文本框 121"/>
            <p:cNvSpPr txBox="1"/>
            <p:nvPr/>
          </p:nvSpPr>
          <p:spPr>
            <a:xfrm>
              <a:off x="1068" y="536"/>
              <a:ext cx="3321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>
                  <a:solidFill>
                    <a:srgbClr val="003B79"/>
                  </a:solidFill>
                  <a:sym typeface="Wingdings 2" panose="05020102010507070707" charset="0"/>
                </a:rPr>
                <a:t>缺陷图片分析平台</a:t>
              </a:r>
              <a:endParaRPr lang="zh-CN" altLang="en-US" b="1">
                <a:solidFill>
                  <a:srgbClr val="003B79"/>
                </a:solidFill>
                <a:sym typeface="Wingdings 2" panose="05020102010507070707" charset="0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16" y="619"/>
              <a:ext cx="435" cy="399"/>
            </a:xfrm>
            <a:prstGeom prst="rect">
              <a:avLst/>
            </a:prstGeom>
          </p:spPr>
        </p:pic>
      </p:grpSp>
    </p:spTree>
    <p:custDataLst>
      <p:tags r:id="rId1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9660" y="1812995"/>
            <a:ext cx="10969200" cy="705600"/>
          </a:xfrm>
        </p:spPr>
        <p:txBody>
          <a:bodyPr/>
          <a:p>
            <a:pPr algn="ctr"/>
            <a:r>
              <a:rPr lang="zh-CN" altLang="en-US" b="1">
                <a:solidFill>
                  <a:srgbClr val="FF0000"/>
                </a:solidFill>
              </a:rPr>
              <a:t>补充图片标注截图</a:t>
            </a:r>
            <a:r>
              <a:rPr lang="en-US" altLang="zh-CN" b="1">
                <a:solidFill>
                  <a:srgbClr val="FF0000"/>
                </a:solidFill>
              </a:rPr>
              <a:t>1-2</a:t>
            </a:r>
            <a:r>
              <a:rPr lang="zh-CN" altLang="en-US" b="1">
                <a:solidFill>
                  <a:srgbClr val="FF0000"/>
                </a:solidFill>
              </a:rPr>
              <a:t>张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1887855"/>
            <a:ext cx="10968990" cy="2227580"/>
          </a:xfrm>
        </p:spPr>
        <p:txBody>
          <a:bodyPr/>
          <a:p>
            <a:pPr algn="ctr"/>
            <a:r>
              <a:rPr lang="zh-CN" altLang="en-US" b="1"/>
              <a:t>模型版本</a:t>
            </a:r>
            <a:endParaRPr lang="zh-CN" altLang="en-US" b="1"/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矩形 26"/>
          <p:cNvSpPr/>
          <p:nvPr/>
        </p:nvSpPr>
        <p:spPr>
          <a:xfrm>
            <a:off x="454660" y="1722120"/>
            <a:ext cx="11365865" cy="4673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2922270" y="1830070"/>
          <a:ext cx="8688705" cy="43122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6190"/>
                <a:gridCol w="1424940"/>
                <a:gridCol w="3340735"/>
                <a:gridCol w="1386840"/>
                <a:gridCol w="1270000"/>
              </a:tblGrid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版本号</a:t>
                      </a:r>
                      <a:endParaRPr lang="zh-CN" altLang="en-US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发布时间</a:t>
                      </a:r>
                      <a:endParaRPr lang="zh-CN" altLang="en-US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说明</a:t>
                      </a:r>
                      <a:endParaRPr lang="zh-CN" altLang="en-US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400" b="1"/>
                        <a:t>当前状态</a:t>
                      </a:r>
                      <a:endParaRPr lang="zh-CN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操作</a:t>
                      </a:r>
                      <a:endParaRPr lang="zh-CN" altLang="en-US" sz="1400" b="1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492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V1.3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2026/12/31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400">
                          <a:sym typeface="+mn-ea"/>
                        </a:rPr>
                        <a:t>在前一版本基础上调整</a:t>
                      </a:r>
                      <a:r>
                        <a:rPr lang="en-US" altLang="zh-CN" sz="1400">
                          <a:sym typeface="+mn-ea"/>
                        </a:rPr>
                        <a:t> XXX</a:t>
                      </a: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测试</a:t>
                      </a: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调参</a:t>
                      </a:r>
                      <a:r>
                        <a:rPr lang="en-US" altLang="zh-CN" sz="1400">
                          <a:solidFill>
                            <a:srgbClr val="FF0000"/>
                          </a:solidFill>
                          <a:sym typeface="+mn-ea"/>
                        </a:rPr>
                        <a:t>  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导出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518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V1.2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2026/12/31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400">
                          <a:sym typeface="+mn-ea"/>
                        </a:rPr>
                        <a:t>在前一版本基础上调整</a:t>
                      </a:r>
                      <a:r>
                        <a:rPr lang="en-US" altLang="zh-CN" sz="1400">
                          <a:sym typeface="+mn-ea"/>
                        </a:rPr>
                        <a:t> XXX</a:t>
                      </a: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推理</a:t>
                      </a: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调参</a:t>
                      </a:r>
                      <a:r>
                        <a:rPr lang="en-US" altLang="zh-CN" sz="1400">
                          <a:solidFill>
                            <a:srgbClr val="FF0000"/>
                          </a:solidFill>
                          <a:sym typeface="+mn-ea"/>
                        </a:rPr>
                        <a:t>  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导出</a:t>
                      </a: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V1.1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2026/12/31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400">
                          <a:sym typeface="+mn-ea"/>
                        </a:rPr>
                        <a:t>在前一版本基础上调整</a:t>
                      </a:r>
                      <a:r>
                        <a:rPr lang="en-US" altLang="zh-CN" sz="1400">
                          <a:sym typeface="+mn-ea"/>
                        </a:rPr>
                        <a:t> XXX</a:t>
                      </a: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>
                              <a:lumMod val="50000"/>
                            </a:schemeClr>
                          </a:solidFill>
                          <a:sym typeface="+mn-ea"/>
                        </a:rPr>
                        <a:t>停用</a:t>
                      </a:r>
                      <a:endParaRPr lang="zh-CN" altLang="en-US" sz="1400">
                        <a:solidFill>
                          <a:schemeClr val="bg1">
                            <a:lumMod val="50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调参</a:t>
                      </a:r>
                      <a:r>
                        <a:rPr lang="en-US" altLang="zh-CN" sz="1400">
                          <a:solidFill>
                            <a:srgbClr val="FF0000"/>
                          </a:solidFill>
                          <a:sym typeface="+mn-ea"/>
                        </a:rPr>
                        <a:t>  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导出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V1.0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2026/12/31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400">
                          <a:sym typeface="+mn-ea"/>
                        </a:rPr>
                        <a:t>在前一版本基础上调整</a:t>
                      </a:r>
                      <a:r>
                        <a:rPr lang="en-US" altLang="zh-CN" sz="1400">
                          <a:sym typeface="+mn-ea"/>
                        </a:rPr>
                        <a:t> XXX</a:t>
                      </a: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>
                              <a:lumMod val="50000"/>
                            </a:schemeClr>
                          </a:solidFill>
                          <a:sym typeface="+mn-ea"/>
                        </a:rPr>
                        <a:t>停用</a:t>
                      </a:r>
                      <a:endParaRPr lang="zh-CN" altLang="en-US" sz="1400">
                        <a:solidFill>
                          <a:schemeClr val="bg1">
                            <a:lumMod val="50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调参</a:t>
                      </a:r>
                      <a:r>
                        <a:rPr lang="en-US" altLang="zh-CN" sz="1400">
                          <a:solidFill>
                            <a:srgbClr val="FF0000"/>
                          </a:solidFill>
                          <a:sym typeface="+mn-ea"/>
                        </a:rPr>
                        <a:t>  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导出</a:t>
                      </a: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505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V0.5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2026/12/31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400"/>
                        <a:t>在前一版本基础上调整</a:t>
                      </a:r>
                      <a:r>
                        <a:rPr lang="en-US" altLang="zh-CN" sz="1400"/>
                        <a:t> XXX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>
                              <a:lumMod val="50000"/>
                            </a:schemeClr>
                          </a:solidFill>
                          <a:sym typeface="+mn-ea"/>
                        </a:rPr>
                        <a:t>停用</a:t>
                      </a:r>
                      <a:endParaRPr lang="zh-CN" altLang="en-US" sz="1400">
                        <a:solidFill>
                          <a:schemeClr val="bg1">
                            <a:lumMod val="50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调参</a:t>
                      </a:r>
                      <a:r>
                        <a:rPr lang="en-US" altLang="zh-CN" sz="1400">
                          <a:solidFill>
                            <a:srgbClr val="FF0000"/>
                          </a:solidFill>
                          <a:sym typeface="+mn-ea"/>
                        </a:rPr>
                        <a:t>  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导出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V0.1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2026/12/31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/>
                        <a:t>对</a:t>
                      </a:r>
                      <a:r>
                        <a:rPr lang="en-US" altLang="zh-CN" sz="1400"/>
                        <a:t>10</a:t>
                      </a:r>
                      <a:r>
                        <a:rPr lang="zh-CN" altLang="en-US" sz="1400"/>
                        <a:t>种缺陷识别准确率</a:t>
                      </a:r>
                      <a:r>
                        <a:rPr lang="en-US" altLang="zh-CN" sz="1400"/>
                        <a:t>90%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停用</a:t>
                      </a:r>
                      <a:endParaRPr lang="zh-CN" altLang="en-US" sz="14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调参</a:t>
                      </a:r>
                      <a:r>
                        <a:rPr lang="en-US" altLang="zh-CN" sz="1400">
                          <a:solidFill>
                            <a:srgbClr val="FF0000"/>
                          </a:solidFill>
                          <a:sym typeface="+mn-ea"/>
                        </a:rPr>
                        <a:t>  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导出</a:t>
                      </a:r>
                      <a:endParaRPr lang="zh-CN" altLang="en-US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59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.......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.......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>
                    <a:lnL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表格 16"/>
          <p:cNvGraphicFramePr/>
          <p:nvPr>
            <p:custDataLst>
              <p:tags r:id="rId2"/>
            </p:custDataLst>
          </p:nvPr>
        </p:nvGraphicFramePr>
        <p:xfrm>
          <a:off x="585470" y="1830070"/>
          <a:ext cx="2056130" cy="4338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6130"/>
              </a:tblGrid>
              <a:tr h="49466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选择牌号</a:t>
                      </a:r>
                      <a:endParaRPr lang="zh-CN" altLang="en-US" sz="1400" b="1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232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牌号</a:t>
                      </a:r>
                      <a:r>
                        <a:rPr lang="en-US" altLang="zh-CN" sz="1400">
                          <a:sym typeface="+mn-ea"/>
                        </a:rPr>
                        <a:t>1</a:t>
                      </a:r>
                      <a:endParaRPr lang="en-US" altLang="zh-CN" sz="1400" b="0"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402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牌号</a:t>
                      </a:r>
                      <a:r>
                        <a:rPr lang="en-US" altLang="zh-CN" sz="140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altLang="zh-CN" sz="1400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5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牌号</a:t>
                      </a:r>
                      <a:r>
                        <a:rPr lang="en-US" altLang="zh-CN" sz="1400"/>
                        <a:t>3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5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牌号</a:t>
                      </a:r>
                      <a:r>
                        <a:rPr lang="en-US" altLang="zh-CN" sz="1400"/>
                        <a:t>4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558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/>
                        <a:t>.......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9" name="同侧圆角矩形 58"/>
          <p:cNvSpPr/>
          <p:nvPr>
            <p:custDataLst>
              <p:tags r:id="rId3"/>
            </p:custDataLst>
          </p:nvPr>
        </p:nvSpPr>
        <p:spPr>
          <a:xfrm>
            <a:off x="4749165" y="134874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 b="1">
                <a:solidFill>
                  <a:schemeClr val="tx1"/>
                </a:solidFill>
                <a:latin typeface="Calibri" panose="020F0502020204030204" charset="0"/>
              </a:rPr>
              <a:t>③</a:t>
            </a:r>
            <a:r>
              <a:rPr lang="en-US" altLang="zh-CN" sz="1400" b="1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sz="1400" b="1">
                <a:solidFill>
                  <a:schemeClr val="tx1"/>
                </a:solidFill>
              </a:rPr>
              <a:t>模型训练与推理</a:t>
            </a:r>
            <a:endParaRPr lang="zh-CN" sz="1400" b="1">
              <a:solidFill>
                <a:schemeClr val="tx1"/>
              </a:solidFill>
            </a:endParaRPr>
          </a:p>
        </p:txBody>
      </p:sp>
      <p:sp>
        <p:nvSpPr>
          <p:cNvPr id="62" name="同侧圆角矩形 61"/>
          <p:cNvSpPr/>
          <p:nvPr/>
        </p:nvSpPr>
        <p:spPr>
          <a:xfrm>
            <a:off x="6861810" y="134874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④</a:t>
            </a:r>
            <a:r>
              <a:rPr lang="en-US" alt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sz="1400">
                <a:solidFill>
                  <a:schemeClr val="tx1"/>
                </a:solidFill>
              </a:rPr>
              <a:t>结果统计与展示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65" name="同侧圆角矩形 64"/>
          <p:cNvSpPr/>
          <p:nvPr>
            <p:custDataLst>
              <p:tags r:id="rId4"/>
            </p:custDataLst>
          </p:nvPr>
        </p:nvSpPr>
        <p:spPr>
          <a:xfrm>
            <a:off x="518160" y="1348740"/>
            <a:ext cx="2033905" cy="37465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Calibri" panose="020F0502020204030204" charset="0"/>
              </a:rPr>
              <a:t>①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altLang="en-US" sz="1400">
                <a:solidFill>
                  <a:schemeClr val="tx1"/>
                </a:solidFill>
              </a:rPr>
              <a:t>图像集成与采集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6" name="同侧圆角矩形 65"/>
          <p:cNvSpPr/>
          <p:nvPr>
            <p:custDataLst>
              <p:tags r:id="rId5"/>
            </p:custDataLst>
          </p:nvPr>
        </p:nvSpPr>
        <p:spPr>
          <a:xfrm>
            <a:off x="2625090" y="134874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②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权限分类与标注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497705" y="744220"/>
            <a:ext cx="61258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olidFill>
                  <a:srgbClr val="FF0000"/>
                </a:solidFill>
                <a:sym typeface="+mn-ea"/>
              </a:rPr>
              <a:t>烟支外观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五轮成像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小包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CCD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散包检测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条外观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更多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...</a:t>
            </a:r>
            <a:endParaRPr lang="en-US" altLang="zh-CN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 2" panose="05020102010507070707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 rot="0">
            <a:off x="3134360" y="743585"/>
            <a:ext cx="1132840" cy="306705"/>
            <a:chOff x="15165" y="681"/>
            <a:chExt cx="1809" cy="483"/>
          </a:xfrm>
        </p:grpSpPr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165" y="755"/>
              <a:ext cx="353" cy="329"/>
            </a:xfrm>
            <a:prstGeom prst="rect">
              <a:avLst/>
            </a:prstGeom>
          </p:spPr>
        </p:pic>
        <p:sp>
          <p:nvSpPr>
            <p:cNvPr id="74" name="文本框 73"/>
            <p:cNvSpPr txBox="1"/>
            <p:nvPr/>
          </p:nvSpPr>
          <p:spPr>
            <a:xfrm>
              <a:off x="15413" y="681"/>
              <a:ext cx="1561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400">
                  <a:sym typeface="Wingdings 2" panose="05020102010507070707" charset="0"/>
                </a:rPr>
                <a:t>基础设置</a:t>
              </a:r>
              <a:endParaRPr lang="zh-CN" altLang="en-US" sz="1400">
                <a:sym typeface="Wingdings 2" panose="05020102010507070707" charset="0"/>
              </a:endParaRPr>
            </a:p>
          </p:txBody>
        </p:sp>
      </p:grpSp>
      <p:sp>
        <p:nvSpPr>
          <p:cNvPr id="81" name="椭圆 80"/>
          <p:cNvSpPr/>
          <p:nvPr/>
        </p:nvSpPr>
        <p:spPr>
          <a:xfrm>
            <a:off x="11472545" y="728980"/>
            <a:ext cx="347345" cy="337185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10600055" y="759460"/>
            <a:ext cx="8718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 i="1">
                <a:sym typeface="Wingdings 2" panose="05020102010507070707" charset="0"/>
              </a:rPr>
              <a:t>管理员</a:t>
            </a:r>
            <a:endParaRPr lang="zh-CN" altLang="en-US" sz="1200" i="1">
              <a:sym typeface="Wingdings 2" panose="05020102010507070707" charset="0"/>
            </a:endParaRPr>
          </a:p>
        </p:txBody>
      </p:sp>
      <p:grpSp>
        <p:nvGrpSpPr>
          <p:cNvPr id="86" name="组合 85"/>
          <p:cNvGrpSpPr/>
          <p:nvPr>
            <p:custDataLst>
              <p:tags r:id="rId7"/>
            </p:custDataLst>
          </p:nvPr>
        </p:nvGrpSpPr>
        <p:grpSpPr>
          <a:xfrm rot="0">
            <a:off x="9607550" y="1358900"/>
            <a:ext cx="2117725" cy="354330"/>
            <a:chOff x="6870" y="3059"/>
            <a:chExt cx="3335" cy="412"/>
          </a:xfrm>
          <a:solidFill>
            <a:schemeClr val="bg1">
              <a:lumMod val="95000"/>
            </a:schemeClr>
          </a:solidFill>
        </p:grpSpPr>
        <p:sp>
          <p:nvSpPr>
            <p:cNvPr id="87" name="矩形 86"/>
            <p:cNvSpPr/>
            <p:nvPr>
              <p:custDataLst>
                <p:tags r:id="rId8"/>
              </p:custDataLst>
            </p:nvPr>
          </p:nvSpPr>
          <p:spPr>
            <a:xfrm>
              <a:off x="6870" y="3059"/>
              <a:ext cx="1617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选择车间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矩形 87"/>
            <p:cNvSpPr/>
            <p:nvPr>
              <p:custDataLst>
                <p:tags r:id="rId9"/>
              </p:custDataLst>
            </p:nvPr>
          </p:nvSpPr>
          <p:spPr>
            <a:xfrm>
              <a:off x="8575" y="3059"/>
              <a:ext cx="1630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选择区域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05460" y="683260"/>
            <a:ext cx="2395220" cy="368300"/>
            <a:chOff x="616" y="536"/>
            <a:chExt cx="3772" cy="580"/>
          </a:xfrm>
        </p:grpSpPr>
        <p:sp>
          <p:nvSpPr>
            <p:cNvPr id="122" name="文本框 121"/>
            <p:cNvSpPr txBox="1"/>
            <p:nvPr/>
          </p:nvSpPr>
          <p:spPr>
            <a:xfrm>
              <a:off x="1068" y="536"/>
              <a:ext cx="3321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>
                  <a:solidFill>
                    <a:srgbClr val="003B79"/>
                  </a:solidFill>
                  <a:sym typeface="Wingdings 2" panose="05020102010507070707" charset="0"/>
                </a:rPr>
                <a:t>缺陷图片分析平台</a:t>
              </a:r>
              <a:endParaRPr lang="zh-CN" altLang="en-US" b="1">
                <a:solidFill>
                  <a:srgbClr val="003B79"/>
                </a:solidFill>
                <a:sym typeface="Wingdings 2" panose="05020102010507070707" charset="0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16" y="619"/>
              <a:ext cx="435" cy="399"/>
            </a:xfrm>
            <a:prstGeom prst="rect">
              <a:avLst/>
            </a:prstGeom>
          </p:spPr>
        </p:pic>
      </p:grpSp>
    </p:spTree>
    <p:custDataLst>
      <p:tags r:id="rId1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1887855"/>
            <a:ext cx="10968990" cy="2227580"/>
          </a:xfrm>
        </p:spPr>
        <p:txBody>
          <a:bodyPr/>
          <a:p>
            <a:pPr algn="ctr"/>
            <a:r>
              <a:rPr lang="zh-CN" altLang="en-US" b="1"/>
              <a:t>分析结果</a:t>
            </a:r>
            <a:endParaRPr lang="zh-CN" altLang="en-US" b="1"/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矩形 26"/>
          <p:cNvSpPr/>
          <p:nvPr/>
        </p:nvSpPr>
        <p:spPr>
          <a:xfrm>
            <a:off x="454660" y="1798320"/>
            <a:ext cx="11365865" cy="4673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 flipH="1">
            <a:off x="2697480" y="3049905"/>
            <a:ext cx="9525" cy="28879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6" name="图表 5" descr="7b0a202020202263686172745265734964223a20223530303533343239220a7d0a"/>
          <p:cNvGraphicFramePr/>
          <p:nvPr/>
        </p:nvGraphicFramePr>
        <p:xfrm>
          <a:off x="2722880" y="2206625"/>
          <a:ext cx="8757285" cy="3893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941435" y="1870075"/>
            <a:ext cx="253873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>
                <a:solidFill>
                  <a:srgbClr val="FF0000"/>
                </a:solidFill>
                <a:sym typeface="Wingdings 2" panose="05020102010507070707" charset="0"/>
              </a:rPr>
              <a:t>当班统计</a:t>
            </a:r>
            <a:r>
              <a:rPr lang="en-US" altLang="zh-CN" sz="1200">
                <a:solidFill>
                  <a:srgbClr val="FF0000"/>
                </a:solidFill>
                <a:sym typeface="Wingdings 2" panose="05020102010507070707" charset="0"/>
              </a:rPr>
              <a:t>    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历史统计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    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趋势分析</a:t>
            </a:r>
            <a:endParaRPr lang="zh-CN" altLang="en-US" sz="1200">
              <a:solidFill>
                <a:schemeClr val="bg1">
                  <a:lumMod val="50000"/>
                </a:schemeClr>
              </a:solidFill>
              <a:sym typeface="Wingdings 2" panose="05020102010507070707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34310" y="1848485"/>
            <a:ext cx="402018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buFont typeface="Wingdings" panose="05000000000000000000" charset="0"/>
              <a:buChar char="n"/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en-US" altLang="zh-CN" sz="1400">
                <a:solidFill>
                  <a:srgbClr val="FF0000"/>
                </a:solidFill>
                <a:sym typeface="Wingdings 2" panose="05020102010507070707" charset="0"/>
              </a:rPr>
              <a:t>A02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产线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zh-CN" altLang="en-US" sz="1400">
                <a:solidFill>
                  <a:srgbClr val="FF0000"/>
                </a:solidFill>
                <a:sym typeface="Wingdings 2" panose="05020102010507070707" charset="0"/>
              </a:rPr>
              <a:t>烟支外观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当班分析结果</a:t>
            </a:r>
            <a:endParaRPr lang="zh-CN" altLang="en-US" sz="1400">
              <a:solidFill>
                <a:schemeClr val="bg1">
                  <a:lumMod val="50000"/>
                </a:schemeClr>
              </a:solidFill>
              <a:sym typeface="Wingdings 2" panose="05020102010507070707" charset="0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2"/>
            </p:custDataLst>
          </p:nvPr>
        </p:nvGraphicFramePr>
        <p:xfrm>
          <a:off x="586105" y="1855470"/>
          <a:ext cx="1957070" cy="4406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57070"/>
              </a:tblGrid>
              <a:tr h="4095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chemeClr val="bg1">
                              <a:lumMod val="65000"/>
                            </a:schemeClr>
                          </a:solidFill>
                          <a:sym typeface="Wingdings 2" panose="05020102010507070707" charset="0"/>
                        </a:rPr>
                        <a:t>选择产线</a:t>
                      </a:r>
                      <a:endParaRPr lang="zh-CN" altLang="en-US" sz="1400" b="1">
                        <a:solidFill>
                          <a:schemeClr val="bg1">
                            <a:lumMod val="65000"/>
                          </a:schemeClr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ym typeface="Wingdings 2" panose="05020102010507070707" charset="0"/>
                        </a:rPr>
                        <a:t>A01</a:t>
                      </a:r>
                      <a:endParaRPr lang="en-US" altLang="zh-CN" sz="1400"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000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sym typeface="Wingdings 2" panose="05020102010507070707" charset="0"/>
                        </a:rPr>
                        <a:t>A02</a:t>
                      </a:r>
                      <a:endParaRPr lang="en-US" altLang="zh-CN" sz="1400">
                        <a:solidFill>
                          <a:srgbClr val="C00000"/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A03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00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ym typeface="Wingdings 2" panose="05020102010507070707" charset="0"/>
                        </a:rPr>
                        <a:t>A04</a:t>
                      </a:r>
                      <a:endParaRPr lang="en-US" altLang="zh-CN" sz="1400"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A05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A06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A07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A08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38735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9" name="同侧圆角矩形 58"/>
          <p:cNvSpPr/>
          <p:nvPr>
            <p:custDataLst>
              <p:tags r:id="rId3"/>
            </p:custDataLst>
          </p:nvPr>
        </p:nvSpPr>
        <p:spPr>
          <a:xfrm>
            <a:off x="4672965" y="143129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Calibri" panose="020F0502020204030204" charset="0"/>
              </a:rPr>
              <a:t>③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sz="1400">
                <a:solidFill>
                  <a:schemeClr val="tx1"/>
                </a:solidFill>
              </a:rPr>
              <a:t>模型训练与版本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62" name="同侧圆角矩形 61"/>
          <p:cNvSpPr/>
          <p:nvPr/>
        </p:nvSpPr>
        <p:spPr>
          <a:xfrm>
            <a:off x="6785610" y="143129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④</a:t>
            </a:r>
            <a:r>
              <a:rPr lang="en-US" altLang="zh-CN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sz="1400" b="1">
                <a:solidFill>
                  <a:schemeClr val="tx1"/>
                </a:solidFill>
              </a:rPr>
              <a:t>结果统计与展示</a:t>
            </a:r>
            <a:endParaRPr lang="zh-CN" sz="1400" b="1">
              <a:solidFill>
                <a:schemeClr val="tx1"/>
              </a:solidFill>
            </a:endParaRPr>
          </a:p>
        </p:txBody>
      </p:sp>
      <p:sp>
        <p:nvSpPr>
          <p:cNvPr id="65" name="同侧圆角矩形 64"/>
          <p:cNvSpPr/>
          <p:nvPr>
            <p:custDataLst>
              <p:tags r:id="rId4"/>
            </p:custDataLst>
          </p:nvPr>
        </p:nvSpPr>
        <p:spPr>
          <a:xfrm>
            <a:off x="441960" y="1431290"/>
            <a:ext cx="2033905" cy="37465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Calibri" panose="020F0502020204030204" charset="0"/>
              </a:rPr>
              <a:t>①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altLang="en-US" sz="1400">
                <a:solidFill>
                  <a:schemeClr val="tx1"/>
                </a:solidFill>
              </a:rPr>
              <a:t>图像集成与采集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6" name="同侧圆角矩形 65"/>
          <p:cNvSpPr/>
          <p:nvPr>
            <p:custDataLst>
              <p:tags r:id="rId5"/>
            </p:custDataLst>
          </p:nvPr>
        </p:nvSpPr>
        <p:spPr>
          <a:xfrm>
            <a:off x="2548890" y="143129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②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权限分类与标注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497705" y="826770"/>
            <a:ext cx="61258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olidFill>
                  <a:srgbClr val="FF0000"/>
                </a:solidFill>
                <a:sym typeface="+mn-ea"/>
              </a:rPr>
              <a:t>烟支外观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五轮成像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小包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CCD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散包检测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条外观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更多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...</a:t>
            </a:r>
            <a:endParaRPr lang="en-US" altLang="zh-CN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 2" panose="05020102010507070707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 rot="0">
            <a:off x="3134360" y="826135"/>
            <a:ext cx="1132840" cy="306705"/>
            <a:chOff x="15165" y="681"/>
            <a:chExt cx="1809" cy="483"/>
          </a:xfrm>
        </p:grpSpPr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165" y="755"/>
              <a:ext cx="353" cy="329"/>
            </a:xfrm>
            <a:prstGeom prst="rect">
              <a:avLst/>
            </a:prstGeom>
          </p:spPr>
        </p:pic>
        <p:sp>
          <p:nvSpPr>
            <p:cNvPr id="74" name="文本框 73"/>
            <p:cNvSpPr txBox="1"/>
            <p:nvPr/>
          </p:nvSpPr>
          <p:spPr>
            <a:xfrm>
              <a:off x="15413" y="681"/>
              <a:ext cx="1561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400">
                  <a:sym typeface="Wingdings 2" panose="05020102010507070707" charset="0"/>
                </a:rPr>
                <a:t>基础设置</a:t>
              </a:r>
              <a:endParaRPr lang="zh-CN" altLang="en-US" sz="1400">
                <a:sym typeface="Wingdings 2" panose="05020102010507070707" charset="0"/>
              </a:endParaRPr>
            </a:p>
          </p:txBody>
        </p:sp>
      </p:grpSp>
      <p:sp>
        <p:nvSpPr>
          <p:cNvPr id="81" name="椭圆 80"/>
          <p:cNvSpPr/>
          <p:nvPr/>
        </p:nvSpPr>
        <p:spPr>
          <a:xfrm>
            <a:off x="11472545" y="811530"/>
            <a:ext cx="347345" cy="337185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10600055" y="842010"/>
            <a:ext cx="8718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 i="1">
                <a:sym typeface="Wingdings 2" panose="05020102010507070707" charset="0"/>
              </a:rPr>
              <a:t>管理员</a:t>
            </a:r>
            <a:endParaRPr lang="zh-CN" altLang="en-US" sz="1200" i="1">
              <a:sym typeface="Wingdings 2" panose="05020102010507070707" charset="0"/>
            </a:endParaRPr>
          </a:p>
        </p:txBody>
      </p:sp>
      <p:grpSp>
        <p:nvGrpSpPr>
          <p:cNvPr id="86" name="组合 85"/>
          <p:cNvGrpSpPr/>
          <p:nvPr>
            <p:custDataLst>
              <p:tags r:id="rId7"/>
            </p:custDataLst>
          </p:nvPr>
        </p:nvGrpSpPr>
        <p:grpSpPr>
          <a:xfrm rot="0">
            <a:off x="9607550" y="1441450"/>
            <a:ext cx="2117725" cy="354330"/>
            <a:chOff x="6870" y="3059"/>
            <a:chExt cx="3335" cy="412"/>
          </a:xfrm>
          <a:solidFill>
            <a:schemeClr val="bg1">
              <a:lumMod val="95000"/>
            </a:schemeClr>
          </a:solidFill>
        </p:grpSpPr>
        <p:sp>
          <p:nvSpPr>
            <p:cNvPr id="87" name="矩形 86"/>
            <p:cNvSpPr/>
            <p:nvPr>
              <p:custDataLst>
                <p:tags r:id="rId8"/>
              </p:custDataLst>
            </p:nvPr>
          </p:nvSpPr>
          <p:spPr>
            <a:xfrm>
              <a:off x="6870" y="3059"/>
              <a:ext cx="1617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选择车间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矩形 87"/>
            <p:cNvSpPr/>
            <p:nvPr>
              <p:custDataLst>
                <p:tags r:id="rId9"/>
              </p:custDataLst>
            </p:nvPr>
          </p:nvSpPr>
          <p:spPr>
            <a:xfrm>
              <a:off x="8575" y="3059"/>
              <a:ext cx="1630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选择区域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57835" y="778510"/>
            <a:ext cx="2395220" cy="368300"/>
            <a:chOff x="616" y="536"/>
            <a:chExt cx="3772" cy="580"/>
          </a:xfrm>
        </p:grpSpPr>
        <p:sp>
          <p:nvSpPr>
            <p:cNvPr id="122" name="文本框 121"/>
            <p:cNvSpPr txBox="1"/>
            <p:nvPr/>
          </p:nvSpPr>
          <p:spPr>
            <a:xfrm>
              <a:off x="1068" y="536"/>
              <a:ext cx="3321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>
                  <a:solidFill>
                    <a:srgbClr val="003B79"/>
                  </a:solidFill>
                  <a:sym typeface="Wingdings 2" panose="05020102010507070707" charset="0"/>
                </a:rPr>
                <a:t>缺陷图片分析平台</a:t>
              </a:r>
              <a:endParaRPr lang="zh-CN" altLang="en-US" b="1">
                <a:solidFill>
                  <a:srgbClr val="003B79"/>
                </a:solidFill>
                <a:sym typeface="Wingdings 2" panose="05020102010507070707" charset="0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16" y="619"/>
              <a:ext cx="435" cy="399"/>
            </a:xfrm>
            <a:prstGeom prst="rect">
              <a:avLst/>
            </a:prstGeom>
          </p:spPr>
        </p:pic>
      </p:grpSp>
    </p:spTree>
    <p:custDataLst>
      <p:tags r:id="rId1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矩形 26"/>
          <p:cNvSpPr/>
          <p:nvPr/>
        </p:nvSpPr>
        <p:spPr>
          <a:xfrm>
            <a:off x="454660" y="1722120"/>
            <a:ext cx="11365865" cy="4673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同侧圆角矩形 19"/>
          <p:cNvSpPr/>
          <p:nvPr>
            <p:custDataLst>
              <p:tags r:id="rId2"/>
            </p:custDataLst>
          </p:nvPr>
        </p:nvSpPr>
        <p:spPr>
          <a:xfrm>
            <a:off x="4683760" y="1298575"/>
            <a:ext cx="2033905" cy="41211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Calibri" panose="020F0502020204030204" charset="0"/>
              </a:rPr>
              <a:t>③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sz="1400">
                <a:solidFill>
                  <a:schemeClr val="tx1"/>
                </a:solidFill>
              </a:rPr>
              <a:t>模型训练与版本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24" name="同侧圆角矩形 23"/>
          <p:cNvSpPr/>
          <p:nvPr/>
        </p:nvSpPr>
        <p:spPr>
          <a:xfrm>
            <a:off x="6796405" y="1298575"/>
            <a:ext cx="2033905" cy="41211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④</a:t>
            </a:r>
            <a:r>
              <a:rPr lang="en-US" altLang="zh-CN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sz="1400" b="1">
                <a:solidFill>
                  <a:schemeClr val="tx1"/>
                </a:solidFill>
              </a:rPr>
              <a:t>结果统计与展示</a:t>
            </a:r>
            <a:endParaRPr lang="zh-CN" sz="1400" b="1">
              <a:solidFill>
                <a:schemeClr val="tx1"/>
              </a:solidFill>
            </a:endParaRPr>
          </a:p>
        </p:txBody>
      </p:sp>
      <p:sp>
        <p:nvSpPr>
          <p:cNvPr id="26" name="同侧圆角矩形 25"/>
          <p:cNvSpPr/>
          <p:nvPr>
            <p:custDataLst>
              <p:tags r:id="rId3"/>
            </p:custDataLst>
          </p:nvPr>
        </p:nvSpPr>
        <p:spPr>
          <a:xfrm>
            <a:off x="452755" y="1298575"/>
            <a:ext cx="2033905" cy="412115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Calibri" panose="020F0502020204030204" charset="0"/>
              </a:rPr>
              <a:t>①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altLang="en-US" sz="1400">
                <a:solidFill>
                  <a:schemeClr val="tx1"/>
                </a:solidFill>
              </a:rPr>
              <a:t>图像集成与采集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8" name="同侧圆角矩形 27"/>
          <p:cNvSpPr/>
          <p:nvPr>
            <p:custDataLst>
              <p:tags r:id="rId4"/>
            </p:custDataLst>
          </p:nvPr>
        </p:nvSpPr>
        <p:spPr>
          <a:xfrm>
            <a:off x="2559685" y="1298575"/>
            <a:ext cx="2033905" cy="41211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②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权限分类与标注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489450" y="612140"/>
            <a:ext cx="61258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olidFill>
                  <a:srgbClr val="FF0000"/>
                </a:solidFill>
                <a:sym typeface="+mn-ea"/>
              </a:rPr>
              <a:t>烟支外观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五轮成像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小包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CCD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散包检测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条外观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更多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...</a:t>
            </a:r>
            <a:endParaRPr lang="en-US" altLang="zh-CN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 2" panose="05020102010507070707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 rot="0">
            <a:off x="3126105" y="611505"/>
            <a:ext cx="1132840" cy="306705"/>
            <a:chOff x="15165" y="681"/>
            <a:chExt cx="1809" cy="483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165" y="755"/>
              <a:ext cx="353" cy="329"/>
            </a:xfrm>
            <a:prstGeom prst="rect">
              <a:avLst/>
            </a:prstGeom>
          </p:spPr>
        </p:pic>
        <p:sp>
          <p:nvSpPr>
            <p:cNvPr id="37" name="文本框 36"/>
            <p:cNvSpPr txBox="1"/>
            <p:nvPr/>
          </p:nvSpPr>
          <p:spPr>
            <a:xfrm>
              <a:off x="15413" y="681"/>
              <a:ext cx="1561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400">
                  <a:sym typeface="Wingdings 2" panose="05020102010507070707" charset="0"/>
                </a:rPr>
                <a:t>基础设置</a:t>
              </a:r>
              <a:endParaRPr lang="zh-CN" altLang="en-US" sz="1400">
                <a:sym typeface="Wingdings 2" panose="05020102010507070707" charset="0"/>
              </a:endParaRPr>
            </a:p>
          </p:txBody>
        </p:sp>
      </p:grpSp>
      <p:sp>
        <p:nvSpPr>
          <p:cNvPr id="38" name="椭圆 37"/>
          <p:cNvSpPr/>
          <p:nvPr/>
        </p:nvSpPr>
        <p:spPr>
          <a:xfrm>
            <a:off x="11464290" y="596900"/>
            <a:ext cx="347345" cy="337185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10591800" y="627380"/>
            <a:ext cx="8718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 i="1">
                <a:sym typeface="Wingdings 2" panose="05020102010507070707" charset="0"/>
              </a:rPr>
              <a:t>管理员</a:t>
            </a:r>
            <a:endParaRPr lang="zh-CN" altLang="en-US" sz="1200" i="1">
              <a:sym typeface="Wingdings 2" panose="05020102010507070707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89845" y="1892856"/>
            <a:ext cx="147510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>
                <a:solidFill>
                  <a:srgbClr val="FF0000"/>
                </a:solidFill>
                <a:sym typeface="Wingdings 2" panose="05020102010507070707" charset="0"/>
              </a:rPr>
              <a:t>历史统计结果</a:t>
            </a:r>
            <a:r>
              <a:rPr lang="en-US" altLang="zh-CN" sz="1200">
                <a:solidFill>
                  <a:srgbClr val="FF0000"/>
                </a:solidFill>
                <a:sym typeface="Wingdings 2" panose="05020102010507070707" charset="0"/>
              </a:rPr>
              <a:t> &gt;&gt;</a:t>
            </a:r>
            <a:endParaRPr lang="en-US" altLang="zh-CN" sz="1200">
              <a:solidFill>
                <a:srgbClr val="FF0000"/>
              </a:solidFill>
              <a:sym typeface="Wingdings 2" panose="05020102010507070707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6"/>
            </p:custDataLst>
          </p:nvPr>
        </p:nvGraphicFramePr>
        <p:xfrm>
          <a:off x="586105" y="1855470"/>
          <a:ext cx="1957070" cy="4406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57070"/>
              </a:tblGrid>
              <a:tr h="4095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chemeClr val="bg1">
                              <a:lumMod val="65000"/>
                            </a:schemeClr>
                          </a:solidFill>
                          <a:sym typeface="Wingdings 2" panose="05020102010507070707" charset="0"/>
                        </a:rPr>
                        <a:t>选择产线</a:t>
                      </a:r>
                      <a:endParaRPr lang="zh-CN" altLang="en-US" sz="1400" b="1">
                        <a:solidFill>
                          <a:schemeClr val="bg1">
                            <a:lumMod val="65000"/>
                          </a:schemeClr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ym typeface="Wingdings 2" panose="05020102010507070707" charset="0"/>
                        </a:rPr>
                        <a:t>A01</a:t>
                      </a:r>
                      <a:endParaRPr lang="en-US" altLang="zh-CN" sz="1400"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000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sym typeface="Wingdings 2" panose="05020102010507070707" charset="0"/>
                        </a:rPr>
                        <a:t>A02</a:t>
                      </a:r>
                      <a:endParaRPr lang="en-US" altLang="zh-CN" sz="1400">
                        <a:solidFill>
                          <a:srgbClr val="C00000"/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A03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400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ym typeface="Wingdings 2" panose="05020102010507070707" charset="0"/>
                        </a:rPr>
                        <a:t>A04</a:t>
                      </a:r>
                      <a:endParaRPr lang="en-US" altLang="zh-CN" sz="1400"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A05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A06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A07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A08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38735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cxnSp>
        <p:nvCxnSpPr>
          <p:cNvPr id="4" name="直接连接符 3"/>
          <p:cNvCxnSpPr/>
          <p:nvPr/>
        </p:nvCxnSpPr>
        <p:spPr>
          <a:xfrm flipH="1">
            <a:off x="2697480" y="2973705"/>
            <a:ext cx="9525" cy="28879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0" name="图表 9" descr="7b0a202020202263686172745265734964223a20223530303533343239220a7d0a"/>
          <p:cNvGraphicFramePr/>
          <p:nvPr/>
        </p:nvGraphicFramePr>
        <p:xfrm>
          <a:off x="2722880" y="2271395"/>
          <a:ext cx="8942070" cy="4010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矩形 11"/>
          <p:cNvSpPr/>
          <p:nvPr/>
        </p:nvSpPr>
        <p:spPr>
          <a:xfrm>
            <a:off x="2739390" y="1872298"/>
            <a:ext cx="1536065" cy="3619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200" i="1">
                <a:solidFill>
                  <a:schemeClr val="bg1">
                    <a:lumMod val="50000"/>
                  </a:schemeClr>
                </a:solidFill>
              </a:rPr>
              <a:t>2026/ 12/ 31          v </a:t>
            </a:r>
            <a:endParaRPr lang="en-US" altLang="zh-CN" sz="12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295140" y="1872615"/>
            <a:ext cx="1273810" cy="3619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sz="1200" i="1">
                <a:solidFill>
                  <a:schemeClr val="bg1">
                    <a:lumMod val="50000"/>
                  </a:schemeClr>
                </a:solidFill>
              </a:rPr>
              <a:t>选择班次</a:t>
            </a:r>
            <a:r>
              <a:rPr lang="en-US" altLang="zh-CN" sz="1200" i="1">
                <a:solidFill>
                  <a:schemeClr val="bg1">
                    <a:lumMod val="50000"/>
                  </a:schemeClr>
                </a:solidFill>
              </a:rPr>
              <a:t>        v </a:t>
            </a:r>
            <a:endParaRPr lang="en-US" altLang="zh-CN" sz="1200" i="1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86410" y="549910"/>
            <a:ext cx="2395220" cy="368300"/>
            <a:chOff x="616" y="536"/>
            <a:chExt cx="3772" cy="580"/>
          </a:xfrm>
        </p:grpSpPr>
        <p:sp>
          <p:nvSpPr>
            <p:cNvPr id="122" name="文本框 121"/>
            <p:cNvSpPr txBox="1"/>
            <p:nvPr/>
          </p:nvSpPr>
          <p:spPr>
            <a:xfrm>
              <a:off x="1068" y="536"/>
              <a:ext cx="3321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>
                  <a:solidFill>
                    <a:srgbClr val="003B79"/>
                  </a:solidFill>
                  <a:sym typeface="Wingdings 2" panose="05020102010507070707" charset="0"/>
                </a:rPr>
                <a:t>缺陷图片分析平台</a:t>
              </a:r>
              <a:endParaRPr lang="zh-CN" altLang="en-US" b="1">
                <a:solidFill>
                  <a:srgbClr val="003B79"/>
                </a:solidFill>
                <a:sym typeface="Wingdings 2" panose="05020102010507070707" charset="0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6" y="619"/>
              <a:ext cx="435" cy="399"/>
            </a:xfrm>
            <a:prstGeom prst="rect">
              <a:avLst/>
            </a:prstGeom>
          </p:spPr>
        </p:pic>
      </p:grpSp>
      <p:grpSp>
        <p:nvGrpSpPr>
          <p:cNvPr id="86" name="组合 85"/>
          <p:cNvGrpSpPr/>
          <p:nvPr>
            <p:custDataLst>
              <p:tags r:id="rId8"/>
            </p:custDataLst>
          </p:nvPr>
        </p:nvGrpSpPr>
        <p:grpSpPr>
          <a:xfrm rot="0">
            <a:off x="9693275" y="1355725"/>
            <a:ext cx="2117725" cy="354330"/>
            <a:chOff x="6870" y="3059"/>
            <a:chExt cx="3335" cy="412"/>
          </a:xfrm>
          <a:solidFill>
            <a:schemeClr val="bg1">
              <a:lumMod val="95000"/>
            </a:schemeClr>
          </a:solidFill>
        </p:grpSpPr>
        <p:sp>
          <p:nvSpPr>
            <p:cNvPr id="87" name="矩形 86"/>
            <p:cNvSpPr/>
            <p:nvPr>
              <p:custDataLst>
                <p:tags r:id="rId9"/>
              </p:custDataLst>
            </p:nvPr>
          </p:nvSpPr>
          <p:spPr>
            <a:xfrm>
              <a:off x="6870" y="3059"/>
              <a:ext cx="1617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选择车间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矩形 87"/>
            <p:cNvSpPr/>
            <p:nvPr>
              <p:custDataLst>
                <p:tags r:id="rId10"/>
              </p:custDataLst>
            </p:nvPr>
          </p:nvSpPr>
          <p:spPr>
            <a:xfrm>
              <a:off x="8575" y="3059"/>
              <a:ext cx="1630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选择区域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custDataLst>
      <p:tags r:id="rId1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" name="文本框 72"/>
          <p:cNvSpPr txBox="1"/>
          <p:nvPr/>
        </p:nvSpPr>
        <p:spPr>
          <a:xfrm>
            <a:off x="167005" y="89535"/>
            <a:ext cx="489077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3200" b="1">
                <a:sym typeface="Wingdings 2" panose="05020102010507070707" charset="0"/>
              </a:rPr>
              <a:t>图片分析详情（弹出层）</a:t>
            </a:r>
            <a:endParaRPr lang="zh-CN" altLang="en-US" sz="3200" b="1">
              <a:sym typeface="Wingdings 2" panose="05020102010507070707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66700" y="1797050"/>
            <a:ext cx="11590655" cy="4730750"/>
            <a:chOff x="420" y="2620"/>
            <a:chExt cx="18253" cy="7450"/>
          </a:xfrm>
        </p:grpSpPr>
        <p:sp>
          <p:nvSpPr>
            <p:cNvPr id="35" name="矩形 34"/>
            <p:cNvSpPr/>
            <p:nvPr/>
          </p:nvSpPr>
          <p:spPr>
            <a:xfrm>
              <a:off x="420" y="2620"/>
              <a:ext cx="1894" cy="1399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2840" y="2620"/>
              <a:ext cx="1894" cy="139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5230" y="2620"/>
              <a:ext cx="1894" cy="139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420" y="4591"/>
              <a:ext cx="1894" cy="139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2840" y="4591"/>
              <a:ext cx="1894" cy="139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5230" y="4591"/>
              <a:ext cx="1894" cy="139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420" y="6562"/>
              <a:ext cx="1894" cy="139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2840" y="6562"/>
              <a:ext cx="1894" cy="139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5230" y="6562"/>
              <a:ext cx="1894" cy="139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420" y="8533"/>
              <a:ext cx="1894" cy="139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840" y="8533"/>
              <a:ext cx="1894" cy="139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230" y="8533"/>
              <a:ext cx="1894" cy="139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965" y="2620"/>
              <a:ext cx="10708" cy="745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7548" y="2649"/>
              <a:ext cx="9" cy="729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266700" y="1162050"/>
            <a:ext cx="715518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b="1">
                <a:sym typeface="Wingdings 2" panose="05020102010507070707" charset="0"/>
              </a:rPr>
              <a:t>日期：</a:t>
            </a:r>
            <a:r>
              <a:rPr lang="en-US" altLang="zh-CN" sz="1200">
                <a:sym typeface="Wingdings 2" panose="05020102010507070707" charset="0"/>
              </a:rPr>
              <a:t>2026/12/31      </a:t>
            </a:r>
            <a:r>
              <a:rPr lang="zh-CN" altLang="en-US" sz="1200" b="1">
                <a:sym typeface="Wingdings 2" panose="05020102010507070707" charset="0"/>
              </a:rPr>
              <a:t>机组：</a:t>
            </a:r>
            <a:r>
              <a:rPr lang="en-US" altLang="zh-CN" sz="1200">
                <a:sym typeface="Wingdings 2" panose="05020102010507070707" charset="0"/>
              </a:rPr>
              <a:t> A01      </a:t>
            </a:r>
            <a:r>
              <a:rPr lang="zh-CN" altLang="en-US" sz="1200" b="1">
                <a:sym typeface="Wingdings 2" panose="05020102010507070707" charset="0"/>
              </a:rPr>
              <a:t>班次：</a:t>
            </a:r>
            <a:r>
              <a:rPr lang="en-US" altLang="zh-CN" sz="1200">
                <a:sym typeface="Wingdings 2" panose="05020102010507070707" charset="0"/>
              </a:rPr>
              <a:t> </a:t>
            </a:r>
            <a:r>
              <a:rPr lang="zh-CN" altLang="en-US" sz="1200">
                <a:sym typeface="Wingdings 2" panose="05020102010507070707" charset="0"/>
              </a:rPr>
              <a:t>早班</a:t>
            </a:r>
            <a:r>
              <a:rPr lang="en-US" altLang="zh-CN" sz="1200">
                <a:sym typeface="Wingdings 2" panose="05020102010507070707" charset="0"/>
              </a:rPr>
              <a:t>      </a:t>
            </a:r>
            <a:r>
              <a:rPr lang="zh-CN" altLang="en-US" sz="1200" b="1">
                <a:sym typeface="Wingdings 2" panose="05020102010507070707" charset="0"/>
              </a:rPr>
              <a:t>缺陷类型：</a:t>
            </a:r>
            <a:r>
              <a:rPr lang="en-US" altLang="zh-CN" sz="1200" b="1">
                <a:solidFill>
                  <a:srgbClr val="FF0000"/>
                </a:solidFill>
                <a:sym typeface="Wingdings 2" panose="05020102010507070707" charset="0"/>
              </a:rPr>
              <a:t>X X X X</a:t>
            </a:r>
            <a:r>
              <a:rPr lang="en-US" altLang="zh-CN" sz="1200">
                <a:sym typeface="Wingdings 2" panose="05020102010507070707" charset="0"/>
              </a:rPr>
              <a:t>    </a:t>
            </a:r>
            <a:r>
              <a:rPr lang="en-US" altLang="zh-CN" sz="1200" b="1">
                <a:sym typeface="Wingdings 2" panose="05020102010507070707" charset="0"/>
              </a:rPr>
              <a:t> </a:t>
            </a:r>
            <a:r>
              <a:rPr lang="zh-CN" altLang="en-US" sz="1200" b="1">
                <a:sym typeface="Wingdings 2" panose="05020102010507070707" charset="0"/>
              </a:rPr>
              <a:t>图片数量：</a:t>
            </a:r>
            <a:r>
              <a:rPr lang="en-US" altLang="zh-CN" sz="1200">
                <a:sym typeface="Wingdings 2" panose="05020102010507070707" charset="0"/>
              </a:rPr>
              <a:t> </a:t>
            </a:r>
            <a:r>
              <a:rPr lang="zh-CN" altLang="en-US" sz="1200">
                <a:sym typeface="Wingdings 2" panose="05020102010507070707" charset="0"/>
              </a:rPr>
              <a:t>共</a:t>
            </a:r>
            <a:r>
              <a:rPr lang="en-US" altLang="zh-CN" sz="1200">
                <a:sym typeface="Wingdings 2" panose="05020102010507070707" charset="0"/>
              </a:rPr>
              <a:t> </a:t>
            </a:r>
            <a:r>
              <a:rPr lang="en-US" altLang="zh-CN" sz="1200" b="1">
                <a:sym typeface="Wingdings 2" panose="05020102010507070707" charset="0"/>
              </a:rPr>
              <a:t>12</a:t>
            </a:r>
            <a:r>
              <a:rPr lang="en-US" altLang="zh-CN" sz="1200">
                <a:sym typeface="Wingdings 2" panose="05020102010507070707" charset="0"/>
              </a:rPr>
              <a:t> </a:t>
            </a:r>
            <a:r>
              <a:rPr lang="zh-CN" altLang="en-US" sz="1200">
                <a:sym typeface="Wingdings 2" panose="05020102010507070707" charset="0"/>
              </a:rPr>
              <a:t>张</a:t>
            </a:r>
            <a:endParaRPr lang="zh-CN" altLang="en-US" sz="1200">
              <a:sym typeface="Wingdings 2" panose="05020102010507070707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矩形 26"/>
          <p:cNvSpPr/>
          <p:nvPr/>
        </p:nvSpPr>
        <p:spPr>
          <a:xfrm>
            <a:off x="454660" y="1722120"/>
            <a:ext cx="11365865" cy="4673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586105" y="1855470"/>
          <a:ext cx="1957070" cy="4406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57070"/>
              </a:tblGrid>
              <a:tr h="4095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ym typeface="Wingdings 2" panose="05020102010507070707" charset="0"/>
                        </a:rPr>
                        <a:t>选择产线</a:t>
                      </a:r>
                      <a:endParaRPr lang="zh-CN" altLang="en-US" sz="1400"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ym typeface="Wingdings 2" panose="05020102010507070707" charset="0"/>
                        </a:rPr>
                        <a:t>A01</a:t>
                      </a:r>
                      <a:endParaRPr lang="en-US" altLang="zh-CN" sz="1400"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000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sym typeface="Wingdings 2" panose="05020102010507070707" charset="0"/>
                        </a:rPr>
                        <a:t>A02</a:t>
                      </a:r>
                      <a:endParaRPr lang="en-US" altLang="zh-CN" sz="1400">
                        <a:solidFill>
                          <a:srgbClr val="C00000"/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A03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400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ym typeface="Wingdings 2" panose="05020102010507070707" charset="0"/>
                        </a:rPr>
                        <a:t>A04</a:t>
                      </a:r>
                      <a:endParaRPr lang="en-US" altLang="zh-CN" sz="1400"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A05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A06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A07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A08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38735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8983345" y="1955800"/>
            <a:ext cx="2551430" cy="261620"/>
            <a:chOff x="6519" y="3059"/>
            <a:chExt cx="4018" cy="412"/>
          </a:xfrm>
        </p:grpSpPr>
        <p:sp>
          <p:nvSpPr>
            <p:cNvPr id="12" name="矩形 11"/>
            <p:cNvSpPr/>
            <p:nvPr>
              <p:custDataLst>
                <p:tags r:id="rId4"/>
              </p:custDataLst>
            </p:nvPr>
          </p:nvSpPr>
          <p:spPr>
            <a:xfrm>
              <a:off x="6519" y="3059"/>
              <a:ext cx="1963" cy="4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>
                  <a:solidFill>
                    <a:schemeClr val="tx1"/>
                  </a:solidFill>
                </a:rPr>
                <a:t>2026/ 12/ 31   v 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3" name="矩形 2"/>
            <p:cNvSpPr/>
            <p:nvPr>
              <p:custDataLst>
                <p:tags r:id="rId5"/>
              </p:custDataLst>
            </p:nvPr>
          </p:nvSpPr>
          <p:spPr>
            <a:xfrm>
              <a:off x="8575" y="3059"/>
              <a:ext cx="1963" cy="4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>
                  <a:solidFill>
                    <a:schemeClr val="tx1"/>
                  </a:solidFill>
                </a:rPr>
                <a:t>2026/ 12/ 31   v 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5" name="图表 4" descr="7b0a202020202263686172745265734964223a20223230343731343133220a7d0a"/>
          <p:cNvGraphicFramePr/>
          <p:nvPr/>
        </p:nvGraphicFramePr>
        <p:xfrm>
          <a:off x="2962910" y="2274570"/>
          <a:ext cx="8576945" cy="3971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962910" y="1910715"/>
            <a:ext cx="402018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buFont typeface="Wingdings" panose="05000000000000000000" charset="0"/>
              <a:buChar char="n"/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en-US" altLang="zh-CN" sz="1400">
                <a:solidFill>
                  <a:srgbClr val="FF0000"/>
                </a:solidFill>
                <a:sym typeface="Wingdings 2" panose="05020102010507070707" charset="0"/>
              </a:rPr>
              <a:t>A02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产线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zh-CN" altLang="en-US" sz="1400">
                <a:solidFill>
                  <a:srgbClr val="FF0000"/>
                </a:solidFill>
                <a:sym typeface="Wingdings 2" panose="05020102010507070707" charset="0"/>
              </a:rPr>
              <a:t>烟支外观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 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sym typeface="Wingdings 2" panose="05020102010507070707" charset="0"/>
              </a:rPr>
              <a:t>分类剔除数变化曲线</a:t>
            </a:r>
            <a:endParaRPr lang="zh-CN" altLang="en-US" sz="1400">
              <a:solidFill>
                <a:schemeClr val="bg1">
                  <a:lumMod val="50000"/>
                </a:schemeClr>
              </a:solidFill>
              <a:sym typeface="Wingdings 2" panose="05020102010507070707" charset="0"/>
            </a:endParaRPr>
          </a:p>
        </p:txBody>
      </p:sp>
      <p:sp>
        <p:nvSpPr>
          <p:cNvPr id="59" name="同侧圆角矩形 58"/>
          <p:cNvSpPr/>
          <p:nvPr>
            <p:custDataLst>
              <p:tags r:id="rId6"/>
            </p:custDataLst>
          </p:nvPr>
        </p:nvSpPr>
        <p:spPr>
          <a:xfrm>
            <a:off x="4749165" y="134874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Calibri" panose="020F0502020204030204" charset="0"/>
              </a:rPr>
              <a:t>③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sz="1400">
                <a:solidFill>
                  <a:schemeClr val="tx1"/>
                </a:solidFill>
              </a:rPr>
              <a:t>模型训练与版本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62" name="同侧圆角矩形 61"/>
          <p:cNvSpPr/>
          <p:nvPr/>
        </p:nvSpPr>
        <p:spPr>
          <a:xfrm>
            <a:off x="6861810" y="134874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④</a:t>
            </a:r>
            <a:r>
              <a:rPr lang="en-US" altLang="zh-CN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sz="1400" b="1">
                <a:solidFill>
                  <a:schemeClr val="tx1"/>
                </a:solidFill>
              </a:rPr>
              <a:t>结果统计与展示</a:t>
            </a:r>
            <a:endParaRPr lang="zh-CN" sz="1400" b="1">
              <a:solidFill>
                <a:schemeClr val="tx1"/>
              </a:solidFill>
            </a:endParaRPr>
          </a:p>
        </p:txBody>
      </p:sp>
      <p:sp>
        <p:nvSpPr>
          <p:cNvPr id="65" name="同侧圆角矩形 64"/>
          <p:cNvSpPr/>
          <p:nvPr>
            <p:custDataLst>
              <p:tags r:id="rId7"/>
            </p:custDataLst>
          </p:nvPr>
        </p:nvSpPr>
        <p:spPr>
          <a:xfrm>
            <a:off x="518160" y="1348740"/>
            <a:ext cx="2033905" cy="37465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Calibri" panose="020F0502020204030204" charset="0"/>
              </a:rPr>
              <a:t>①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</a:rPr>
              <a:t> </a:t>
            </a:r>
            <a:r>
              <a:rPr lang="zh-CN" altLang="en-US" sz="1400">
                <a:solidFill>
                  <a:schemeClr val="tx1"/>
                </a:solidFill>
              </a:rPr>
              <a:t>图像集成与采集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6" name="同侧圆角矩形 65"/>
          <p:cNvSpPr/>
          <p:nvPr>
            <p:custDataLst>
              <p:tags r:id="rId8"/>
            </p:custDataLst>
          </p:nvPr>
        </p:nvSpPr>
        <p:spPr>
          <a:xfrm>
            <a:off x="2625090" y="1348740"/>
            <a:ext cx="2033905" cy="37465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②</a:t>
            </a:r>
            <a:r>
              <a:rPr lang="en-US" altLang="zh-CN" sz="140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权限分类与标注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497705" y="744220"/>
            <a:ext cx="61258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olidFill>
                  <a:srgbClr val="FF0000"/>
                </a:solidFill>
                <a:sym typeface="+mn-ea"/>
              </a:rPr>
              <a:t>烟支外观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五轮成像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小包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CCD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散包检测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条外观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更多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...</a:t>
            </a:r>
            <a:endParaRPr lang="en-US" altLang="zh-CN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 2" panose="05020102010507070707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 rot="0">
            <a:off x="3134360" y="743585"/>
            <a:ext cx="1132840" cy="306705"/>
            <a:chOff x="15165" y="681"/>
            <a:chExt cx="1809" cy="483"/>
          </a:xfrm>
        </p:grpSpPr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165" y="755"/>
              <a:ext cx="353" cy="329"/>
            </a:xfrm>
            <a:prstGeom prst="rect">
              <a:avLst/>
            </a:prstGeom>
          </p:spPr>
        </p:pic>
        <p:sp>
          <p:nvSpPr>
            <p:cNvPr id="74" name="文本框 73"/>
            <p:cNvSpPr txBox="1"/>
            <p:nvPr/>
          </p:nvSpPr>
          <p:spPr>
            <a:xfrm>
              <a:off x="15413" y="681"/>
              <a:ext cx="1561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400">
                  <a:sym typeface="Wingdings 2" panose="05020102010507070707" charset="0"/>
                </a:rPr>
                <a:t>基础设置</a:t>
              </a:r>
              <a:endParaRPr lang="zh-CN" altLang="en-US" sz="1400">
                <a:sym typeface="Wingdings 2" panose="05020102010507070707" charset="0"/>
              </a:endParaRPr>
            </a:p>
          </p:txBody>
        </p:sp>
      </p:grpSp>
      <p:sp>
        <p:nvSpPr>
          <p:cNvPr id="81" name="椭圆 80"/>
          <p:cNvSpPr/>
          <p:nvPr/>
        </p:nvSpPr>
        <p:spPr>
          <a:xfrm>
            <a:off x="11472545" y="728980"/>
            <a:ext cx="347345" cy="337185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10600055" y="759460"/>
            <a:ext cx="8718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 i="1">
                <a:sym typeface="Wingdings 2" panose="05020102010507070707" charset="0"/>
              </a:rPr>
              <a:t>管理员</a:t>
            </a:r>
            <a:endParaRPr lang="zh-CN" altLang="en-US" sz="1200" i="1">
              <a:sym typeface="Wingdings 2" panose="05020102010507070707" charset="0"/>
            </a:endParaRPr>
          </a:p>
        </p:txBody>
      </p:sp>
      <p:grpSp>
        <p:nvGrpSpPr>
          <p:cNvPr id="86" name="组合 85"/>
          <p:cNvGrpSpPr/>
          <p:nvPr>
            <p:custDataLst>
              <p:tags r:id="rId10"/>
            </p:custDataLst>
          </p:nvPr>
        </p:nvGrpSpPr>
        <p:grpSpPr>
          <a:xfrm rot="0">
            <a:off x="9607550" y="1358900"/>
            <a:ext cx="2117725" cy="354330"/>
            <a:chOff x="6870" y="3059"/>
            <a:chExt cx="3335" cy="412"/>
          </a:xfrm>
          <a:solidFill>
            <a:schemeClr val="bg1">
              <a:lumMod val="95000"/>
            </a:schemeClr>
          </a:solidFill>
        </p:grpSpPr>
        <p:sp>
          <p:nvSpPr>
            <p:cNvPr id="87" name="矩形 86"/>
            <p:cNvSpPr/>
            <p:nvPr>
              <p:custDataLst>
                <p:tags r:id="rId11"/>
              </p:custDataLst>
            </p:nvPr>
          </p:nvSpPr>
          <p:spPr>
            <a:xfrm>
              <a:off x="6870" y="3059"/>
              <a:ext cx="1617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选择车间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矩形 87"/>
            <p:cNvSpPr/>
            <p:nvPr>
              <p:custDataLst>
                <p:tags r:id="rId12"/>
              </p:custDataLst>
            </p:nvPr>
          </p:nvSpPr>
          <p:spPr>
            <a:xfrm>
              <a:off x="8575" y="3059"/>
              <a:ext cx="1630" cy="412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zh-CN" altLang="en-US" sz="1200" i="1">
                  <a:solidFill>
                    <a:schemeClr val="bg1">
                      <a:lumMod val="50000"/>
                    </a:schemeClr>
                  </a:solidFill>
                </a:rPr>
                <a:t>选择区域</a:t>
              </a: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  v 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43560" y="673735"/>
            <a:ext cx="2395220" cy="368300"/>
            <a:chOff x="616" y="536"/>
            <a:chExt cx="3772" cy="580"/>
          </a:xfrm>
        </p:grpSpPr>
        <p:sp>
          <p:nvSpPr>
            <p:cNvPr id="122" name="文本框 121"/>
            <p:cNvSpPr txBox="1"/>
            <p:nvPr/>
          </p:nvSpPr>
          <p:spPr>
            <a:xfrm>
              <a:off x="1068" y="536"/>
              <a:ext cx="3321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>
                  <a:solidFill>
                    <a:srgbClr val="003B79"/>
                  </a:solidFill>
                  <a:sym typeface="Wingdings 2" panose="05020102010507070707" charset="0"/>
                </a:rPr>
                <a:t>缺陷图片分析平台</a:t>
              </a:r>
              <a:endParaRPr lang="zh-CN" altLang="en-US" b="1">
                <a:solidFill>
                  <a:srgbClr val="003B79"/>
                </a:solidFill>
                <a:sym typeface="Wingdings 2" panose="05020102010507070707" charset="0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16" y="619"/>
              <a:ext cx="435" cy="399"/>
            </a:xfrm>
            <a:prstGeom prst="rect">
              <a:avLst/>
            </a:prstGeom>
          </p:spPr>
        </p:pic>
      </p:grpSp>
    </p:spTree>
    <p:custDataLst>
      <p:tags r:id="rId1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同侧圆角矩形 107"/>
          <p:cNvSpPr/>
          <p:nvPr/>
        </p:nvSpPr>
        <p:spPr>
          <a:xfrm>
            <a:off x="6793865" y="317500"/>
            <a:ext cx="1158240" cy="376555"/>
          </a:xfrm>
          <a:prstGeom prst="round2SameRect">
            <a:avLst/>
          </a:prstGeom>
          <a:solidFill>
            <a:srgbClr val="000000">
              <a:alpha val="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小包</a:t>
            </a:r>
            <a:r>
              <a:rPr lang="en-US" altLang="zh-CN" sz="1400">
                <a:solidFill>
                  <a:schemeClr val="tx1"/>
                </a:solidFill>
              </a:rPr>
              <a:t>CCD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09" name="同侧圆角矩形 108"/>
          <p:cNvSpPr/>
          <p:nvPr/>
        </p:nvSpPr>
        <p:spPr>
          <a:xfrm>
            <a:off x="7996555" y="317500"/>
            <a:ext cx="1158240" cy="376555"/>
          </a:xfrm>
          <a:prstGeom prst="round2SameRect">
            <a:avLst/>
          </a:prstGeom>
          <a:solidFill>
            <a:srgbClr val="000000">
              <a:alpha val="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</a:rPr>
              <a:t>散包检测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110" name="同侧圆角矩形 109"/>
          <p:cNvSpPr/>
          <p:nvPr/>
        </p:nvSpPr>
        <p:spPr>
          <a:xfrm>
            <a:off x="9198610" y="317500"/>
            <a:ext cx="1158240" cy="376555"/>
          </a:xfrm>
          <a:prstGeom prst="round2SameRect">
            <a:avLst/>
          </a:prstGeom>
          <a:solidFill>
            <a:srgbClr val="000000">
              <a:alpha val="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</a:rPr>
              <a:t>散包检测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111" name="同侧圆角矩形 110"/>
          <p:cNvSpPr/>
          <p:nvPr/>
        </p:nvSpPr>
        <p:spPr>
          <a:xfrm>
            <a:off x="4385310" y="317500"/>
            <a:ext cx="1158240" cy="376555"/>
          </a:xfrm>
          <a:prstGeom prst="round2SameRect">
            <a:avLst/>
          </a:prstGeom>
          <a:solidFill>
            <a:srgbClr val="000000">
              <a:alpha val="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烟支外观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2" name="同侧圆角矩形 111"/>
          <p:cNvSpPr/>
          <p:nvPr/>
        </p:nvSpPr>
        <p:spPr>
          <a:xfrm>
            <a:off x="5584190" y="317500"/>
            <a:ext cx="1158240" cy="376555"/>
          </a:xfrm>
          <a:prstGeom prst="round2SameRect">
            <a:avLst/>
          </a:prstGeom>
          <a:solidFill>
            <a:srgbClr val="000000">
              <a:alpha val="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五轮成像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119" name="椭圆 118"/>
          <p:cNvSpPr/>
          <p:nvPr/>
        </p:nvSpPr>
        <p:spPr>
          <a:xfrm>
            <a:off x="11410315" y="351790"/>
            <a:ext cx="352425" cy="337185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文本框 119"/>
          <p:cNvSpPr txBox="1"/>
          <p:nvPr/>
        </p:nvSpPr>
        <p:spPr>
          <a:xfrm>
            <a:off x="10525760" y="382270"/>
            <a:ext cx="8845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 i="1">
                <a:sym typeface="Wingdings 2" panose="05020102010507070707" charset="0"/>
              </a:rPr>
              <a:t>管理员</a:t>
            </a:r>
            <a:endParaRPr lang="zh-CN" altLang="en-US" sz="1200" i="1">
              <a:sym typeface="Wingdings 2" panose="05020102010507070707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1410315" y="1599565"/>
            <a:ext cx="352425" cy="337185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525760" y="1630045"/>
            <a:ext cx="8845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 i="1">
                <a:sym typeface="Wingdings 2" panose="05020102010507070707" charset="0"/>
              </a:rPr>
              <a:t>管理员</a:t>
            </a:r>
            <a:endParaRPr lang="zh-CN" altLang="en-US" sz="1200" i="1">
              <a:sym typeface="Wingdings 2" panose="05020102010507070707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340225" y="1554480"/>
            <a:ext cx="1032510" cy="30353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300">
                <a:solidFill>
                  <a:schemeClr val="bg1">
                    <a:lumMod val="50000"/>
                  </a:schemeClr>
                </a:solidFill>
              </a:rPr>
              <a:t>烟支外观</a:t>
            </a:r>
            <a:endParaRPr lang="zh-CN" altLang="en-US" sz="13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374640" y="1554480"/>
            <a:ext cx="1032510" cy="30353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300">
                <a:solidFill>
                  <a:schemeClr val="bg1">
                    <a:lumMod val="50000"/>
                  </a:schemeClr>
                </a:solidFill>
              </a:rPr>
              <a:t>五轮成像</a:t>
            </a:r>
            <a:endParaRPr lang="zh-CN" altLang="en-US" sz="13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409055" y="1554480"/>
            <a:ext cx="1032510" cy="30353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300">
                <a:solidFill>
                  <a:schemeClr val="bg1">
                    <a:lumMod val="50000"/>
                  </a:schemeClr>
                </a:solidFill>
              </a:rPr>
              <a:t>小包外观</a:t>
            </a:r>
            <a:endParaRPr lang="zh-CN" altLang="en-US" sz="13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443470" y="1554480"/>
            <a:ext cx="1032510" cy="30353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300">
                <a:solidFill>
                  <a:schemeClr val="bg1">
                    <a:lumMod val="50000"/>
                  </a:schemeClr>
                </a:solidFill>
              </a:rPr>
              <a:t>散包检测</a:t>
            </a:r>
            <a:endParaRPr lang="zh-CN" altLang="en-US" sz="13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477885" y="1554480"/>
            <a:ext cx="1032510" cy="30353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300">
                <a:solidFill>
                  <a:schemeClr val="bg1">
                    <a:lumMod val="50000"/>
                  </a:schemeClr>
                </a:solidFill>
              </a:rPr>
              <a:t>散包检测</a:t>
            </a:r>
            <a:endParaRPr lang="zh-CN" altLang="en-US" sz="13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502775" y="1550035"/>
            <a:ext cx="1032510" cy="30353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300">
                <a:solidFill>
                  <a:schemeClr val="bg1">
                    <a:lumMod val="50000"/>
                  </a:schemeClr>
                </a:solidFill>
              </a:rPr>
              <a:t>大条检测</a:t>
            </a:r>
            <a:endParaRPr lang="zh-CN" altLang="en-US" sz="13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1410315" y="2769235"/>
            <a:ext cx="352425" cy="337185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0525760" y="2799715"/>
            <a:ext cx="8845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 i="1">
                <a:sym typeface="Wingdings 2" panose="05020102010507070707" charset="0"/>
              </a:rPr>
              <a:t>管理员</a:t>
            </a:r>
            <a:endParaRPr lang="zh-CN" altLang="en-US" sz="1200" i="1">
              <a:sym typeface="Wingdings 2" panose="05020102010507070707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540250" y="3168650"/>
            <a:ext cx="5302885" cy="303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烟支外观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   |   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五轮成像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   | 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小包外观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   |   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散包检测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</a:rPr>
              <a:t>   |  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</a:rPr>
              <a:t>条外观</a:t>
            </a:r>
            <a:endParaRPr lang="zh-CN" altLang="en-US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1356340" y="3879215"/>
            <a:ext cx="352425" cy="337185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10471785" y="3909695"/>
            <a:ext cx="8845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 i="1">
                <a:sym typeface="Wingdings 2" panose="05020102010507070707" charset="0"/>
              </a:rPr>
              <a:t>管理员</a:t>
            </a:r>
            <a:endParaRPr lang="zh-CN" altLang="en-US" sz="1200" i="1">
              <a:sym typeface="Wingdings 2" panose="05020102010507070707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836160" y="3881755"/>
            <a:ext cx="5784850" cy="303530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rgbClr val="FF0000"/>
                </a:solidFill>
              </a:rPr>
              <a:t>请先维护检测项</a:t>
            </a:r>
            <a:r>
              <a:rPr lang="en-US" altLang="zh-CN" sz="1200">
                <a:solidFill>
                  <a:srgbClr val="FF0000"/>
                </a:solidFill>
              </a:rPr>
              <a:t> </a:t>
            </a:r>
            <a:r>
              <a:rPr lang="zh-CN" altLang="en-US" sz="1200">
                <a:solidFill>
                  <a:srgbClr val="FF0000"/>
                </a:solidFill>
              </a:rPr>
              <a:t>！！！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878205" y="340360"/>
            <a:ext cx="21088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00B050"/>
                </a:solidFill>
                <a:sym typeface="Wingdings 2" panose="05020102010507070707" charset="0"/>
              </a:rPr>
              <a:t>缺陷图片分析平台</a:t>
            </a:r>
            <a:endParaRPr lang="zh-CN" altLang="en-US" b="1">
              <a:solidFill>
                <a:srgbClr val="00B050"/>
              </a:solidFill>
              <a:sym typeface="Wingdings 2" panose="05020102010507070707" charset="0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3242310" y="362585"/>
            <a:ext cx="9912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solidFill>
                  <a:srgbClr val="72C23B"/>
                </a:solidFill>
                <a:sym typeface="Wingdings 2" panose="05020102010507070707" charset="0"/>
              </a:rPr>
              <a:t>基础配置</a:t>
            </a:r>
            <a:endParaRPr lang="zh-CN" altLang="en-US" sz="1400" b="1">
              <a:solidFill>
                <a:srgbClr val="72C23B"/>
              </a:solidFill>
              <a:sym typeface="Wingdings 2" panose="05020102010507070707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V="1">
            <a:off x="3091815" y="422275"/>
            <a:ext cx="207645" cy="231775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878205" y="1516380"/>
            <a:ext cx="21088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00B050"/>
                </a:solidFill>
                <a:sym typeface="Wingdings 2" panose="05020102010507070707" charset="0"/>
              </a:rPr>
              <a:t>缺陷图片分析平台</a:t>
            </a:r>
            <a:endParaRPr lang="zh-CN" altLang="en-US" b="1">
              <a:solidFill>
                <a:srgbClr val="00B050"/>
              </a:solidFill>
              <a:sym typeface="Wingdings 2" panose="05020102010507070707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242310" y="1538605"/>
            <a:ext cx="9912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solidFill>
                  <a:srgbClr val="72C23B"/>
                </a:solidFill>
                <a:sym typeface="Wingdings 2" panose="05020102010507070707" charset="0"/>
              </a:rPr>
              <a:t>基础配置</a:t>
            </a:r>
            <a:endParaRPr lang="zh-CN" altLang="en-US" sz="1400" b="1">
              <a:solidFill>
                <a:srgbClr val="72C23B"/>
              </a:solidFill>
              <a:sym typeface="Wingdings 2" panose="05020102010507070707" charset="0"/>
            </a:endParaRP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V="1">
            <a:off x="3091815" y="1598295"/>
            <a:ext cx="207645" cy="231775"/>
          </a:xfrm>
          <a:prstGeom prst="rect">
            <a:avLst/>
          </a:prstGeom>
        </p:spPr>
      </p:pic>
      <p:sp>
        <p:nvSpPr>
          <p:cNvPr id="59" name="文本框 58"/>
          <p:cNvSpPr txBox="1"/>
          <p:nvPr/>
        </p:nvSpPr>
        <p:spPr>
          <a:xfrm>
            <a:off x="878205" y="2800350"/>
            <a:ext cx="21088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00B050"/>
                </a:solidFill>
                <a:sym typeface="Wingdings 2" panose="05020102010507070707" charset="0"/>
              </a:rPr>
              <a:t>缺陷图片分析平台</a:t>
            </a:r>
            <a:endParaRPr lang="zh-CN" altLang="en-US" b="1">
              <a:solidFill>
                <a:srgbClr val="00B050"/>
              </a:solidFill>
              <a:sym typeface="Wingdings 2" panose="05020102010507070707" charset="0"/>
            </a:endParaR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5" y="2822575"/>
            <a:ext cx="361950" cy="295275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3242310" y="2822575"/>
            <a:ext cx="9912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solidFill>
                  <a:srgbClr val="72C23B"/>
                </a:solidFill>
                <a:sym typeface="Wingdings 2" panose="05020102010507070707" charset="0"/>
              </a:rPr>
              <a:t>基础配置</a:t>
            </a:r>
            <a:endParaRPr lang="zh-CN" altLang="en-US" sz="1400" b="1">
              <a:solidFill>
                <a:srgbClr val="72C23B"/>
              </a:solidFill>
              <a:sym typeface="Wingdings 2" panose="05020102010507070707" charset="0"/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V="1">
            <a:off x="3091815" y="2882265"/>
            <a:ext cx="207645" cy="231775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86155" y="3848100"/>
            <a:ext cx="21088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00B050"/>
                </a:solidFill>
                <a:sym typeface="Wingdings 2" panose="05020102010507070707" charset="0"/>
              </a:rPr>
              <a:t>缺陷图片分析平台</a:t>
            </a:r>
            <a:endParaRPr lang="zh-CN" altLang="en-US" b="1">
              <a:solidFill>
                <a:srgbClr val="00B050"/>
              </a:solidFill>
              <a:sym typeface="Wingdings 2" panose="05020102010507070707" charset="0"/>
            </a:endParaRPr>
          </a:p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05" y="3870325"/>
            <a:ext cx="361950" cy="295275"/>
          </a:xfrm>
          <a:prstGeom prst="rect">
            <a:avLst/>
          </a:prstGeom>
        </p:spPr>
      </p:pic>
      <p:sp>
        <p:nvSpPr>
          <p:cNvPr id="69" name="文本框 68"/>
          <p:cNvSpPr txBox="1"/>
          <p:nvPr/>
        </p:nvSpPr>
        <p:spPr>
          <a:xfrm>
            <a:off x="3350260" y="3870325"/>
            <a:ext cx="9912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solidFill>
                  <a:srgbClr val="72C23B"/>
                </a:solidFill>
                <a:sym typeface="Wingdings 2" panose="05020102010507070707" charset="0"/>
              </a:rPr>
              <a:t>基础配置</a:t>
            </a:r>
            <a:endParaRPr lang="zh-CN" altLang="en-US" sz="1400" b="1">
              <a:solidFill>
                <a:srgbClr val="72C23B"/>
              </a:solidFill>
              <a:sym typeface="Wingdings 2" panose="05020102010507070707" charset="0"/>
            </a:endParaRPr>
          </a:p>
        </p:txBody>
      </p:sp>
      <p:pic>
        <p:nvPicPr>
          <p:cNvPr id="70" name="图片 6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V="1">
            <a:off x="3199765" y="3930015"/>
            <a:ext cx="207645" cy="231775"/>
          </a:xfrm>
          <a:prstGeom prst="rect">
            <a:avLst/>
          </a:prstGeom>
        </p:spPr>
      </p:pic>
      <p:sp>
        <p:nvSpPr>
          <p:cNvPr id="115" name="文本框 114"/>
          <p:cNvSpPr txBox="1"/>
          <p:nvPr/>
        </p:nvSpPr>
        <p:spPr>
          <a:xfrm>
            <a:off x="2794000" y="5662930"/>
            <a:ext cx="8794750" cy="4387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 anchorCtr="0">
            <a:noAutofit/>
          </a:bodyPr>
          <a:p>
            <a:r>
              <a:rPr lang="en-US" altLang="zh-CN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①</a:t>
            </a:r>
            <a:r>
              <a:rPr lang="en-US" altLang="zh-CN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图片采集</a:t>
            </a:r>
            <a:r>
              <a:rPr lang="en-US" altLang="zh-CN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&amp;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集成</a:t>
            </a:r>
            <a:r>
              <a:rPr lang="en-US" altLang="zh-CN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|   ②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缺陷分类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&amp;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标注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③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模型训练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&amp;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版本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   |   ④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分析结果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&amp;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charset="0"/>
              </a:rPr>
              <a:t>展示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 2" panose="05020102010507070707" charset="0"/>
            </a:endParaRPr>
          </a:p>
        </p:txBody>
      </p:sp>
      <p:sp>
        <p:nvSpPr>
          <p:cNvPr id="73" name="同侧圆角矩形 72"/>
          <p:cNvSpPr/>
          <p:nvPr/>
        </p:nvSpPr>
        <p:spPr>
          <a:xfrm>
            <a:off x="6660515" y="5083175"/>
            <a:ext cx="1158240" cy="376555"/>
          </a:xfrm>
          <a:prstGeom prst="round2SameRect">
            <a:avLst/>
          </a:prstGeom>
          <a:solidFill>
            <a:srgbClr val="000000">
              <a:alpha val="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小包</a:t>
            </a:r>
            <a:r>
              <a:rPr lang="en-US" altLang="zh-CN" sz="1400">
                <a:solidFill>
                  <a:schemeClr val="tx1"/>
                </a:solidFill>
              </a:rPr>
              <a:t>CCD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74" name="同侧圆角矩形 73"/>
          <p:cNvSpPr/>
          <p:nvPr/>
        </p:nvSpPr>
        <p:spPr>
          <a:xfrm>
            <a:off x="7863205" y="5083175"/>
            <a:ext cx="1158240" cy="376555"/>
          </a:xfrm>
          <a:prstGeom prst="round2SameRect">
            <a:avLst/>
          </a:prstGeom>
          <a:solidFill>
            <a:srgbClr val="000000">
              <a:alpha val="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</a:rPr>
              <a:t>散包检测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75" name="同侧圆角矩形 74"/>
          <p:cNvSpPr/>
          <p:nvPr/>
        </p:nvSpPr>
        <p:spPr>
          <a:xfrm>
            <a:off x="9065260" y="5083175"/>
            <a:ext cx="1158240" cy="376555"/>
          </a:xfrm>
          <a:prstGeom prst="round2SameRect">
            <a:avLst/>
          </a:prstGeom>
          <a:solidFill>
            <a:srgbClr val="000000">
              <a:alpha val="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</a:rPr>
              <a:t>散包检测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76" name="同侧圆角矩形 75"/>
          <p:cNvSpPr/>
          <p:nvPr/>
        </p:nvSpPr>
        <p:spPr>
          <a:xfrm>
            <a:off x="4251960" y="5083175"/>
            <a:ext cx="1158240" cy="376555"/>
          </a:xfrm>
          <a:prstGeom prst="round2SameRect">
            <a:avLst/>
          </a:prstGeom>
          <a:solidFill>
            <a:srgbClr val="000000">
              <a:alpha val="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烟支外观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7" name="同侧圆角矩形 76"/>
          <p:cNvSpPr/>
          <p:nvPr/>
        </p:nvSpPr>
        <p:spPr>
          <a:xfrm>
            <a:off x="5450840" y="5083175"/>
            <a:ext cx="1158240" cy="376555"/>
          </a:xfrm>
          <a:prstGeom prst="round2SameRect">
            <a:avLst/>
          </a:prstGeom>
          <a:solidFill>
            <a:srgbClr val="000000">
              <a:alpha val="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五轮成像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117" name="图片 1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480" y="5175250"/>
            <a:ext cx="224155" cy="208915"/>
          </a:xfrm>
          <a:prstGeom prst="rect">
            <a:avLst/>
          </a:prstGeom>
        </p:spPr>
      </p:pic>
      <p:sp>
        <p:nvSpPr>
          <p:cNvPr id="78" name="文本框 77"/>
          <p:cNvSpPr txBox="1"/>
          <p:nvPr/>
        </p:nvSpPr>
        <p:spPr>
          <a:xfrm>
            <a:off x="3108960" y="5128260"/>
            <a:ext cx="9912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Wingdings 2" panose="05020102010507070707" charset="0"/>
              </a:rPr>
              <a:t>基础配置</a:t>
            </a:r>
            <a:endParaRPr lang="zh-CN" altLang="en-US" sz="1400">
              <a:sym typeface="Wingdings 2" panose="05020102010507070707" charset="0"/>
            </a:endParaRPr>
          </a:p>
        </p:txBody>
      </p:sp>
      <p:sp>
        <p:nvSpPr>
          <p:cNvPr id="79" name="椭圆 78"/>
          <p:cNvSpPr/>
          <p:nvPr/>
        </p:nvSpPr>
        <p:spPr>
          <a:xfrm>
            <a:off x="11276965" y="5117465"/>
            <a:ext cx="352425" cy="337185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/>
        </p:nvSpPr>
        <p:spPr>
          <a:xfrm>
            <a:off x="10375900" y="5139690"/>
            <a:ext cx="8845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200" i="1">
                <a:sym typeface="Wingdings 2" panose="05020102010507070707" charset="0"/>
              </a:rPr>
              <a:t>管理员</a:t>
            </a:r>
            <a:endParaRPr lang="zh-CN" altLang="en-US" sz="1200" i="1">
              <a:sym typeface="Wingdings 2" panose="05020102010507070707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744855" y="5106035"/>
            <a:ext cx="21088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00B0F0"/>
                </a:solidFill>
                <a:sym typeface="Wingdings 2" panose="05020102010507070707" charset="0"/>
              </a:rPr>
              <a:t>缺陷图片分析平台</a:t>
            </a:r>
            <a:endParaRPr lang="zh-CN" altLang="en-US" b="1">
              <a:solidFill>
                <a:srgbClr val="00B0F0"/>
              </a:solidFill>
              <a:sym typeface="Wingdings 2" panose="05020102010507070707" charset="0"/>
            </a:endParaRPr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" y="5128260"/>
            <a:ext cx="361950" cy="295275"/>
          </a:xfrm>
          <a:prstGeom prst="rect">
            <a:avLst/>
          </a:prstGeom>
        </p:spPr>
      </p:pic>
      <p:graphicFrame>
        <p:nvGraphicFramePr>
          <p:cNvPr id="84" name="表格 83"/>
          <p:cNvGraphicFramePr/>
          <p:nvPr>
            <p:custDataLst>
              <p:tags r:id="rId4"/>
            </p:custDataLst>
          </p:nvPr>
        </p:nvGraphicFramePr>
        <p:xfrm>
          <a:off x="382905" y="5637530"/>
          <a:ext cx="2345055" cy="4387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5055"/>
              </a:tblGrid>
              <a:tr h="43878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>
                          <a:solidFill>
                            <a:schemeClr val="bg1">
                              <a:lumMod val="50000"/>
                            </a:schemeClr>
                          </a:solidFill>
                          <a:sym typeface="Wingdings 2" panose="05020102010507070707" charset="0"/>
                        </a:rPr>
                        <a:t>烟支外观二次分析</a:t>
                      </a:r>
                      <a:endParaRPr lang="zh-CN" altLang="en-US" sz="1400" b="1">
                        <a:solidFill>
                          <a:schemeClr val="bg1">
                            <a:lumMod val="50000"/>
                          </a:schemeClr>
                        </a:solidFill>
                        <a:sym typeface="Wingdings 2" panose="05020102010507070707" charset="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280" y="387985"/>
            <a:ext cx="288925" cy="2698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280" y="1537970"/>
            <a:ext cx="272415" cy="28257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TABLE_ENDDRAG_ORIGIN_RECT" val="929*406"/>
  <p:tag name="TABLE_ENDDRAG_RECT" val="24*117*929*406"/>
</p:tagLst>
</file>

<file path=ppt/tags/tag66.xml><?xml version="1.0" encoding="utf-8"?>
<p:tagLst xmlns:p="http://schemas.openxmlformats.org/presentationml/2006/main">
  <p:tag name="TABLE_ENDDRAG_ORIGIN_RECT" val="683*371"/>
  <p:tag name="TABLE_ENDDRAG_RECT" val="255*132*683*371"/>
</p:tagLst>
</file>

<file path=ppt/tags/tag67.xml><?xml version="1.0" encoding="utf-8"?>
<p:tagLst xmlns:p="http://schemas.openxmlformats.org/presentationml/2006/main">
  <p:tag name="TABLE_ENDDRAG_ORIGIN_RECT" val="196*371"/>
  <p:tag name="TABLE_ENDDRAG_RECT" val="40*115*196*37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TABLE_ENDDRAG_ORIGIN_RECT" val="929*406"/>
  <p:tag name="TABLE_ENDDRAG_RECT" val="24*117*929*406"/>
</p:tagLst>
</file>

<file path=ppt/tags/tag70.xml><?xml version="1.0" encoding="utf-8"?>
<p:tagLst xmlns:p="http://schemas.openxmlformats.org/presentationml/2006/main">
  <p:tag name="TABLE_ENDDRAG_ORIGIN_RECT" val="196*371"/>
  <p:tag name="TABLE_ENDDRAG_RECT" val="40*115*196*371"/>
</p:tagLst>
</file>

<file path=ppt/tags/tag71.xml><?xml version="1.0" encoding="utf-8"?>
<p:tagLst xmlns:p="http://schemas.openxmlformats.org/presentationml/2006/main">
  <p:tag name="TABLE_ENDDRAG_ORIGIN_RECT" val="690*375"/>
  <p:tag name="TABLE_ENDDRAG_RECT" val="248*128*690*375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TABLE_ENDDRAG_ORIGIN_RECT" val="929*406"/>
  <p:tag name="TABLE_ENDDRAG_RECT" val="24*117*929*406"/>
</p:tagLst>
</file>

<file path=ppt/tags/tag74.xml><?xml version="1.0" encoding="utf-8"?>
<p:tagLst xmlns:p="http://schemas.openxmlformats.org/presentationml/2006/main">
  <p:tag name="TABLE_ENDDRAG_ORIGIN_RECT" val="196*371"/>
  <p:tag name="TABLE_ENDDRAG_RECT" val="40*115*196*371"/>
</p:tagLst>
</file>

<file path=ppt/tags/tag75.xml><?xml version="1.0" encoding="utf-8"?>
<p:tagLst xmlns:p="http://schemas.openxmlformats.org/presentationml/2006/main">
  <p:tag name="TABLE_ENDDRAG_ORIGIN_RECT" val="691*377"/>
  <p:tag name="TABLE_ENDDRAG_RECT" val="246*127*691*377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80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81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82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83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84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85.xml><?xml version="1.0" encoding="utf-8"?>
<p:tagLst xmlns:p="http://schemas.openxmlformats.org/presentationml/2006/main">
  <p:tag name="TABLE_ENDDRAG_ORIGIN_RECT" val="174*307"/>
  <p:tag name="TABLE_ENDDRAG_RECT" val="50*129*174*307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DIAGRAM_VIRTUALLY_FRAME" val="{&quot;height&quot;:67.3,&quot;left&quot;:40.65,&quot;top&quot;:97.75,&quot;width&quot;:756.95}"/>
</p:tagLst>
</file>

<file path=ppt/tags/tag88.xml><?xml version="1.0" encoding="utf-8"?>
<p:tagLst xmlns:p="http://schemas.openxmlformats.org/presentationml/2006/main">
  <p:tag name="KSO_WM_DIAGRAM_VIRTUALLY_FRAME" val="{&quot;height&quot;:67.3,&quot;left&quot;:40.65,&quot;top&quot;:97.75,&quot;width&quot;:756.95}"/>
</p:tagLst>
</file>

<file path=ppt/tags/tag89.xml><?xml version="1.0" encoding="utf-8"?>
<p:tagLst xmlns:p="http://schemas.openxmlformats.org/presentationml/2006/main">
  <p:tag name="KSO_WM_DIAGRAM_VIRTUALLY_FRAME" val="{&quot;height&quot;:67.3,&quot;left&quot;:40.65,&quot;top&quot;:97.75,&quot;width&quot;:756.95}"/>
</p:tagLst>
</file>

<file path=ppt/tags/tag90.xml><?xml version="1.0" encoding="utf-8"?>
<p:tagLst xmlns:p="http://schemas.openxmlformats.org/presentationml/2006/main">
  <p:tag name="KSO_WM_DIAGRAM_VIRTUALLY_FRAME" val="{&quot;height&quot;:67.3,&quot;left&quot;:40.65,&quot;top&quot;:97.75,&quot;width&quot;:756.95}"/>
</p:tagLst>
</file>

<file path=ppt/tags/tag91.xml><?xml version="1.0" encoding="utf-8"?>
<p:tagLst xmlns:p="http://schemas.openxmlformats.org/presentationml/2006/main">
  <p:tag name="KSO_WM_DIAGRAM_VIRTUALLY_FRAME" val="{&quot;height&quot;:67.3,&quot;left&quot;:40.65,&quot;top&quot;:97.75,&quot;width&quot;:756.95}"/>
</p:tagLst>
</file>

<file path=ppt/tags/tag92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93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94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95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96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97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98.xml><?xml version="1.0" encoding="utf-8"?>
<p:tagLst xmlns:p="http://schemas.openxmlformats.org/presentationml/2006/main">
  <p:tag name="TABLE_ENDDRAG_ORIGIN_RECT" val="174*371"/>
  <p:tag name="TABLE_ENDDRAG_RECT" val="50*129*174*371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TABLE_ENDDRAG_ORIGIN_RECT" val="174*371"/>
  <p:tag name="TABLE_ENDDRAG_RECT" val="50*129*174*371"/>
</p:tagLst>
</file>

<file path=ppt/tags/tag101.xml><?xml version="1.0" encoding="utf-8"?>
<p:tagLst xmlns:p="http://schemas.openxmlformats.org/presentationml/2006/main">
  <p:tag name="KSO_WM_DIAGRAM_VIRTUALLY_FRAME" val="{&quot;height&quot;:67.3,&quot;left&quot;:40.65,&quot;top&quot;:97.75,&quot;width&quot;:756.95}"/>
</p:tagLst>
</file>

<file path=ppt/tags/tag102.xml><?xml version="1.0" encoding="utf-8"?>
<p:tagLst xmlns:p="http://schemas.openxmlformats.org/presentationml/2006/main">
  <p:tag name="KSO_WM_DIAGRAM_VIRTUALLY_FRAME" val="{&quot;height&quot;:67.3,&quot;left&quot;:40.65,&quot;top&quot;:97.75,&quot;width&quot;:756.95}"/>
</p:tagLst>
</file>

<file path=ppt/tags/tag103.xml><?xml version="1.0" encoding="utf-8"?>
<p:tagLst xmlns:p="http://schemas.openxmlformats.org/presentationml/2006/main">
  <p:tag name="KSO_WM_DIAGRAM_VIRTUALLY_FRAME" val="{&quot;height&quot;:67.3,&quot;left&quot;:40.65,&quot;top&quot;:97.75,&quot;width&quot;:756.95}"/>
</p:tagLst>
</file>

<file path=ppt/tags/tag104.xml><?xml version="1.0" encoding="utf-8"?>
<p:tagLst xmlns:p="http://schemas.openxmlformats.org/presentationml/2006/main">
  <p:tag name="KSO_WM_DIAGRAM_VIRTUALLY_FRAME" val="{&quot;height&quot;:67.3,&quot;left&quot;:40.65,&quot;top&quot;:97.75,&quot;width&quot;:756.95}"/>
</p:tagLst>
</file>

<file path=ppt/tags/tag105.xml><?xml version="1.0" encoding="utf-8"?>
<p:tagLst xmlns:p="http://schemas.openxmlformats.org/presentationml/2006/main">
  <p:tag name="KSO_WM_DIAGRAM_VIRTUALLY_FRAME" val="{&quot;height&quot;:67.3,&quot;left&quot;:40.65,&quot;top&quot;:97.75,&quot;width&quot;:756.95}"/>
</p:tagLst>
</file>

<file path=ppt/tags/tag106.xml><?xml version="1.0" encoding="utf-8"?>
<p:tagLst xmlns:p="http://schemas.openxmlformats.org/presentationml/2006/main">
  <p:tag name="KSO_WM_DIAGRAM_VIRTUALLY_FRAME" val="{&quot;height&quot;:67.3,&quot;left&quot;:40.65,&quot;top&quot;:97.75,&quot;width&quot;:756.95}"/>
</p:tagLst>
</file>

<file path=ppt/tags/tag107.xml><?xml version="1.0" encoding="utf-8"?>
<p:tagLst xmlns:p="http://schemas.openxmlformats.org/presentationml/2006/main">
  <p:tag name="KSO_WM_DIAGRAM_VIRTUALLY_FRAME" val="{&quot;height&quot;:67.3,&quot;left&quot;:40.65,&quot;top&quot;:97.75,&quot;width&quot;:756.95}"/>
</p:tagLst>
</file>

<file path=ppt/tags/tag108.xml><?xml version="1.0" encoding="utf-8"?>
<p:tagLst xmlns:p="http://schemas.openxmlformats.org/presentationml/2006/main">
  <p:tag name="KSO_WM_DIAGRAM_VIRTUALLY_FRAME" val="{&quot;height&quot;:67.3,&quot;left&quot;:40.65,&quot;top&quot;:97.75,&quot;width&quot;:756.95}"/>
</p:tagLst>
</file>

<file path=ppt/tags/tag109.xml><?xml version="1.0" encoding="utf-8"?>
<p:tagLst xmlns:p="http://schemas.openxmlformats.org/presentationml/2006/main">
  <p:tag name="TABLE_ENDDRAG_ORIGIN_RECT" val="80*325"/>
  <p:tag name="TABLE_ENDDRAG_RECT" val="260*169*80*325"/>
</p:tagLst>
</file>

<file path=ppt/tags/tag110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11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12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13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14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15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TABLE_ENDDRAG_ORIGIN_RECT" val="80*325"/>
  <p:tag name="TABLE_ENDDRAG_RECT" val="260*169*80*325"/>
</p:tagLst>
</file>

<file path=ppt/tags/tag118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19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20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21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22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23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24.xml><?xml version="1.0" encoding="utf-8"?>
<p:tagLst xmlns:p="http://schemas.openxmlformats.org/presentationml/2006/main">
  <p:tag name="TABLE_ENDDRAG_ORIGIN_RECT" val="174*371"/>
  <p:tag name="TABLE_ENDDRAG_RECT" val="50*129*174*371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6.xml><?xml version="1.0" encoding="utf-8"?>
<p:tagLst xmlns:p="http://schemas.openxmlformats.org/presentationml/2006/main">
  <p:tag name="TABLE_ENDDRAG_ORIGIN_RECT" val="80*325"/>
  <p:tag name="TABLE_ENDDRAG_RECT" val="260*169*80*325"/>
</p:tagLst>
</file>

<file path=ppt/tags/tag127.xml><?xml version="1.0" encoding="utf-8"?>
<p:tagLst xmlns:p="http://schemas.openxmlformats.org/presentationml/2006/main">
  <p:tag name="TABLE_ENDDRAG_ORIGIN_RECT" val="543*307"/>
  <p:tag name="TABLE_ENDDRAG_RECT" val="347*175*543*307"/>
</p:tagLst>
</file>

<file path=ppt/tags/tag128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29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30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31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32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33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34.xml><?xml version="1.0" encoding="utf-8"?>
<p:tagLst xmlns:p="http://schemas.openxmlformats.org/presentationml/2006/main">
  <p:tag name="TABLE_ENDDRAG_ORIGIN_RECT" val="174*371"/>
  <p:tag name="TABLE_ENDDRAG_RECT" val="50*129*174*371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6.xml><?xml version="1.0" encoding="utf-8"?>
<p:tagLst xmlns:p="http://schemas.openxmlformats.org/presentationml/2006/main">
  <p:tag name="TABLE_ENDDRAG_ORIGIN_RECT" val="80*325"/>
  <p:tag name="TABLE_ENDDRAG_RECT" val="260*169*80*325"/>
</p:tagLst>
</file>

<file path=ppt/tags/tag137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38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39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40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41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42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43.xml><?xml version="1.0" encoding="utf-8"?>
<p:tagLst xmlns:p="http://schemas.openxmlformats.org/presentationml/2006/main">
  <p:tag name="TABLE_ENDDRAG_ORIGIN_RECT" val="174*371"/>
  <p:tag name="TABLE_ENDDRAG_RECT" val="50*129*174*371"/>
</p:tagLst>
</file>

<file path=ppt/tags/tag14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7.xml><?xml version="1.0" encoding="utf-8"?>
<p:tagLst xmlns:p="http://schemas.openxmlformats.org/presentationml/2006/main">
  <p:tag name="TABLE_ENDDRAG_ORIGIN_RECT" val="683*299"/>
  <p:tag name="TABLE_ENDDRAG_RECT" val="230*184*683*299"/>
</p:tagLst>
</file>

<file path=ppt/tags/tag148.xml><?xml version="1.0" encoding="utf-8"?>
<p:tagLst xmlns:p="http://schemas.openxmlformats.org/presentationml/2006/main">
  <p:tag name="TABLE_ENDDRAG_ORIGIN_RECT" val="151*250"/>
  <p:tag name="TABLE_ENDDRAG_RECT" val="51*144*151*250"/>
</p:tagLst>
</file>

<file path=ppt/tags/tag149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50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51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52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53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54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0.xml><?xml version="1.0" encoding="utf-8"?>
<p:tagLst xmlns:p="http://schemas.openxmlformats.org/presentationml/2006/main">
  <p:tag name="TABLE_ENDDRAG_ORIGIN_RECT" val="684*339"/>
  <p:tag name="TABLE_ENDDRAG_RECT" val="230*144*684*339"/>
</p:tagLst>
</file>

<file path=ppt/tags/tag161.xml><?xml version="1.0" encoding="utf-8"?>
<p:tagLst xmlns:p="http://schemas.openxmlformats.org/presentationml/2006/main">
  <p:tag name="TABLE_ENDDRAG_ORIGIN_RECT" val="161*341"/>
  <p:tag name="TABLE_ENDDRAG_RECT" val="51*144*161*341"/>
</p:tagLst>
</file>

<file path=ppt/tags/tag162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63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64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65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66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67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1.xml><?xml version="1.0" encoding="utf-8"?>
<p:tagLst xmlns:p="http://schemas.openxmlformats.org/presentationml/2006/main">
  <p:tag name="TABLE_ENDDRAG_ORIGIN_RECT" val="154*347"/>
  <p:tag name="TABLE_ENDDRAG_RECT" val="46*146*154*347"/>
</p:tagLst>
</file>

<file path=ppt/tags/tag172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73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74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75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76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77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9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80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81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82.xml><?xml version="1.0" encoding="utf-8"?>
<p:tagLst xmlns:p="http://schemas.openxmlformats.org/presentationml/2006/main">
  <p:tag name="TABLE_ENDDRAG_ORIGIN_RECT" val="154*347"/>
  <p:tag name="TABLE_ENDDRAG_RECT" val="46*146*154*347"/>
</p:tagLst>
</file>

<file path=ppt/tags/tag183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84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85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8.xml><?xml version="1.0" encoding="utf-8"?>
<p:tagLst xmlns:p="http://schemas.openxmlformats.org/presentationml/2006/main">
  <p:tag name="TABLE_ENDDRAG_ORIGIN_RECT" val="154*347"/>
  <p:tag name="TABLE_ENDDRAG_RECT" val="46*146*154*347"/>
</p:tagLst>
</file>

<file path=ppt/tags/tag189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90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91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92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93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94.xml><?xml version="1.0" encoding="utf-8"?>
<p:tagLst xmlns:p="http://schemas.openxmlformats.org/presentationml/2006/main">
  <p:tag name="KSO_WM_DIAGRAM_VIRTUALLY_FRAME" val="{&quot;height&quot;:440.3,&quot;left&quot;:40,&quot;top&quot;:53,&quot;width&quot;:856.95}"/>
</p:tagLst>
</file>

<file path=ppt/tags/tag195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96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97.xml><?xml version="1.0" encoding="utf-8"?>
<p:tagLst xmlns:p="http://schemas.openxmlformats.org/presentationml/2006/main">
  <p:tag name="KSO_WM_DIAGRAM_VIRTUALLY_FRAME" val="{&quot;height&quot;:440.3,&quot;left&quot;:40,&quot;top&quot;:53,&quot;width&quot;:862.25}"/>
</p:tagLst>
</file>

<file path=ppt/tags/tag1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8&quot;:[20471413]}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2.xml><?xml version="1.0" encoding="utf-8"?>
<p:tagLst xmlns:p="http://schemas.openxmlformats.org/presentationml/2006/main">
  <p:tag name="TABLE_ENDDRAG_ORIGIN_RECT" val="184*34"/>
  <p:tag name="TABLE_ENDDRAG_RECT" val="40*75*184*34"/>
</p:tagLst>
</file>

<file path=ppt/tags/tag2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4.xml><?xml version="1.0" encoding="utf-8"?>
<p:tagLst xmlns:p="http://schemas.openxmlformats.org/presentationml/2006/main">
  <p:tag name="resource_record_key" val="{&quot;65&quot;:[20205081],&quot;8&quot;:[20471413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07">
    <a:dk1>
      <a:srgbClr val="000000"/>
    </a:dk1>
    <a:lt1>
      <a:srgbClr val="FFFFFF"/>
    </a:lt1>
    <a:dk2>
      <a:srgbClr val="44546A"/>
    </a:dk2>
    <a:lt2>
      <a:srgbClr val="E7E6E6"/>
    </a:lt2>
    <a:accent1>
      <a:srgbClr val="1D6FA9"/>
    </a:accent1>
    <a:accent2>
      <a:srgbClr val="39ADCE"/>
    </a:accent2>
    <a:accent3>
      <a:srgbClr val="8BC145"/>
    </a:accent3>
    <a:accent4>
      <a:srgbClr val="1D9A78"/>
    </a:accent4>
    <a:accent5>
      <a:srgbClr val="30C0B4"/>
    </a:accent5>
    <a:accent6>
      <a:srgbClr val="4874CB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自定义 107">
    <a:dk1>
      <a:srgbClr val="000000"/>
    </a:dk1>
    <a:lt1>
      <a:srgbClr val="FFFFFF"/>
    </a:lt1>
    <a:dk2>
      <a:srgbClr val="44546A"/>
    </a:dk2>
    <a:lt2>
      <a:srgbClr val="E7E6E6"/>
    </a:lt2>
    <a:accent1>
      <a:srgbClr val="1D6FA9"/>
    </a:accent1>
    <a:accent2>
      <a:srgbClr val="39ADCE"/>
    </a:accent2>
    <a:accent3>
      <a:srgbClr val="8BC145"/>
    </a:accent3>
    <a:accent4>
      <a:srgbClr val="1D9A78"/>
    </a:accent4>
    <a:accent5>
      <a:srgbClr val="30C0B4"/>
    </a:accent5>
    <a:accent6>
      <a:srgbClr val="4874CB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3695</Words>
  <Application>WPS 演示</Application>
  <PresentationFormat>宽屏</PresentationFormat>
  <Paragraphs>996</Paragraphs>
  <Slides>23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宋体</vt:lpstr>
      <vt:lpstr>Wingdings</vt:lpstr>
      <vt:lpstr>Wingdings</vt:lpstr>
      <vt:lpstr>Wingdings 2</vt:lpstr>
      <vt:lpstr>微软雅黑</vt:lpstr>
      <vt:lpstr>Calibri</vt:lpstr>
      <vt:lpstr>Arial Unicode MS</vt:lpstr>
      <vt:lpstr>WPS</vt:lpstr>
      <vt:lpstr>图像采集</vt:lpstr>
      <vt:lpstr>PowerPoint 演示文稿</vt:lpstr>
      <vt:lpstr>PowerPoint 演示文稿</vt:lpstr>
      <vt:lpstr>PowerPoint 演示文稿</vt:lpstr>
      <vt:lpstr>图像采集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缺陷标注</vt:lpstr>
      <vt:lpstr>PowerPoint 演示文稿</vt:lpstr>
      <vt:lpstr>PowerPoint 演示文稿</vt:lpstr>
      <vt:lpstr>模型版本</vt:lpstr>
      <vt:lpstr>PowerPoint 演示文稿</vt:lpstr>
      <vt:lpstr>分析结果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done</cp:lastModifiedBy>
  <cp:revision>198</cp:revision>
  <dcterms:created xsi:type="dcterms:W3CDTF">2019-06-19T02:08:00Z</dcterms:created>
  <dcterms:modified xsi:type="dcterms:W3CDTF">2026-06-22T01:51:16Z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033E1202DF574D6CB046FF1146F021AA_11</vt:lpwstr>
  </property>
</Properties>
</file>